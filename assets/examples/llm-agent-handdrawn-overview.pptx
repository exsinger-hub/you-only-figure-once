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48" y="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B06D09-7EF3-E840-FE97-446F2401D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39A9BB-2E72-67A1-6C2F-9E4416758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007C7A-458D-DEBE-EF09-5724BDAF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90FF-DF05-4605-A184-F0AD820328B4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B5ECBA-5B5F-A57F-0C6E-C15E14DA3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F6890E-BEA3-D542-8042-6BCA7168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92C6-B7D8-4987-B870-C590E2D4B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50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9EAC4-7283-8272-67EC-5A2B54339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EA16D3-B067-BEEA-24A1-DD0C4CA3E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B1586-D127-DDC3-5A41-6BCE29C3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90FF-DF05-4605-A184-F0AD820328B4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37C721-5100-0CFF-2716-5AA860921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703B63-CCC9-E66E-7B20-4BD7127F4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92C6-B7D8-4987-B870-C590E2D4B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918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6C2F23-E8CD-7AC7-15A0-1744D3F76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42EA4C-F229-52F7-04DB-AF3576D68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851717-2541-EE04-09D2-808C56724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90FF-DF05-4605-A184-F0AD820328B4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692FC4-3DD7-40E8-6A23-778A7DB21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E5B037-EA3C-3FF2-7B09-AA671E98A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92C6-B7D8-4987-B870-C590E2D4B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088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0B2FE-3DB6-84B0-55B3-7F926C87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B620A7-C1B8-3E0F-B610-742243358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84D9A-D059-1A5B-10D1-27D37EC42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24F47A-D6DB-B4EF-D806-2B1DB2C9E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90FF-DF05-4605-A184-F0AD820328B4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489134-2C75-3872-CF4F-1BBF2C8D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264DAC-1638-ED79-5CEF-C8B3B465B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92C6-B7D8-4987-B870-C590E2D4B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748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30836-86DF-E920-4438-721D3A8B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18A90E-A25B-CCE2-9383-B9D97F7A7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1562DC-5EA5-109F-BF6D-E6CCD4384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98353E8-83F2-727B-B34F-4CD53E09C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99E768-88A4-83E4-7B8C-EB3E03ECD9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C306E9-E9BA-E182-FA41-B6C043C67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90FF-DF05-4605-A184-F0AD820328B4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2FF774F-6B51-F6BB-E125-4A091797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CBE584-D4DD-49B9-550A-161B9560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92C6-B7D8-4987-B870-C590E2D4B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750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32C55-3EEF-0B9A-46D6-10BC7D51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4830C3-7C36-CB87-A014-652D9D06A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90FF-DF05-4605-A184-F0AD820328B4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A46FE5-1CE0-CBD9-115D-A45CB1976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083671-6799-CD6C-B6DA-30E2659D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92C6-B7D8-4987-B870-C590E2D4B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257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3A5A0F-FC66-4345-A53B-6B684CBD9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90FF-DF05-4605-A184-F0AD820328B4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6DE388-E6FF-E5B1-0A3E-86C7DEAE8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43DE34-7A19-D0BA-4DDA-AD889B7D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92C6-B7D8-4987-B870-C590E2D4B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6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3037E-C5A0-B4AB-2BC5-A560F486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16962F-5A37-049E-BFF7-105576F32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767123-8946-716B-7D1D-FC6DDB316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04BE6E-68E4-8204-1EF5-7797224B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90FF-DF05-4605-A184-F0AD820328B4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9823CE-F11A-2F35-223E-43E14C6B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5DD9DC-6882-A70C-263F-3C2CE029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92C6-B7D8-4987-B870-C590E2D4B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37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CF20E-E3CA-102D-ACE2-F11D78D1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ADCE9A-E9F5-5A6A-E344-C4A0D0978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9BB2E7-BB53-B687-2CA4-90860A426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67028F-6CC5-FFEF-A448-AB7495B2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90FF-DF05-4605-A184-F0AD820328B4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AFE155-CBFC-2607-62CA-7FD57D7CB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E0E9F5-91F1-B27C-D786-9B4D18CF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92C6-B7D8-4987-B870-C590E2D4B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331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C0E45-8D69-3AA8-86B4-8DED35526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E66B73-E86C-7A6C-D862-D1A6A09C1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E7ECDF-7433-7944-6E95-EC4BF7D47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90FF-DF05-4605-A184-F0AD820328B4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3EFC55-D2C1-A101-0617-D0969C27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AFD77F-EA83-8AF2-B3FD-837347B6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92C6-B7D8-4987-B870-C590E2D4B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7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2EBF26-3BBA-5588-F387-DD2D3C2B0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CE1B6B-6F28-E3A6-0E2A-55B02E6FD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9E04B-64CD-8480-2C9D-201A3926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90FF-DF05-4605-A184-F0AD820328B4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DEF30F-FB31-18EE-A491-FE05AF26C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19D51A-E393-F812-FC2D-EDC9C099A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92C6-B7D8-4987-B870-C590E2D4B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736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DF5DA5-9814-D541-DC39-470A1AD1A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E00FFB-382A-ED82-4B6C-9B867AD2D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734A4F-CC4D-8171-878C-F3C386AE14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090FF-DF05-4605-A184-F0AD820328B4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73459D-0492-0BD9-9810-4DB343A9E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90799B-C00C-E68F-438A-79898D805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C92C6-B7D8-4987-B870-C590E2D4B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1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8" Type="http://schemas.openxmlformats.org/officeDocument/2006/relationships/tags" Target="../tags/tag8.xml"/><Relationship Id="rId3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YOFO_LLM_Handdrawn_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_canvas">
            <a:extLst>
              <a:ext uri="{FF2B5EF4-FFF2-40B4-BE49-F238E27FC236}">
                <a16:creationId xmlns:a16="http://schemas.microsoft.com/office/drawing/2014/main" id="{25F6E1FF-D917-B209-9C16-DF460781AF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19050" cap="flat" cmpd="sng" algn="ctr">
            <a:solidFill>
              <a:srgbClr val="F7F3E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hd_title_highlight">
            <a:extLst>
              <a:ext uri="{FF2B5EF4-FFF2-40B4-BE49-F238E27FC236}">
                <a16:creationId xmlns:a16="http://schemas.microsoft.com/office/drawing/2014/main" id="{FA127C1E-FD42-CC97-09B2-653EDBA1890E}"/>
              </a:ext>
            </a:extLst>
          </p:cNvPr>
          <p:cNvSpPr/>
          <p:nvPr/>
        </p:nvSpPr>
        <p:spPr>
          <a:xfrm rot="-60000">
            <a:off x="3937000" y="292100"/>
            <a:ext cx="4038600" cy="368300"/>
          </a:xfrm>
          <a:prstGeom prst="roundRect">
            <a:avLst/>
          </a:prstGeom>
          <a:solidFill>
            <a:srgbClr val="F3CBBF">
              <a:alpha val="92000"/>
            </a:srgbClr>
          </a:solidFill>
          <a:ln w="19050" cap="flat" cmpd="sng" algn="ctr">
            <a:solidFill>
              <a:srgbClr val="F3CBB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hd_title">
            <a:extLst>
              <a:ext uri="{FF2B5EF4-FFF2-40B4-BE49-F238E27FC236}">
                <a16:creationId xmlns:a16="http://schemas.microsoft.com/office/drawing/2014/main" id="{4925D0B7-4808-0CF9-1BD4-75CF06B18E23}"/>
              </a:ext>
            </a:extLst>
          </p:cNvPr>
          <p:cNvSpPr txBox="1"/>
          <p:nvPr/>
        </p:nvSpPr>
        <p:spPr>
          <a:xfrm>
            <a:off x="482600" y="152400"/>
            <a:ext cx="7334059" cy="484748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rtlCol="0" anchor="ctr">
            <a:normAutofit/>
          </a:bodyPr>
          <a:lstStyle/>
          <a:p>
            <a:r>
              <a:rPr lang="en-US" altLang="zh-CN" sz="2550" b="1">
                <a:solidFill>
                  <a:srgbClr val="20252B"/>
                </a:solidFill>
                <a:latin typeface="Segoe Print" panose="02000600000000000000" pitchFamily="2" charset="0"/>
              </a:rPr>
              <a:t>FROM QUESTION TO GROUNDED ACTION</a:t>
            </a:r>
            <a:endParaRPr lang="zh-CN" altLang="en-US" sz="2550" b="1">
              <a:solidFill>
                <a:srgbClr val="20252B"/>
              </a:solidFill>
              <a:latin typeface="Segoe Print" panose="02000600000000000000" pitchFamily="2" charset="0"/>
            </a:endParaRPr>
          </a:p>
        </p:txBody>
      </p:sp>
      <p:sp>
        <p:nvSpPr>
          <p:cNvPr id="5" name="hd_subtitle">
            <a:extLst>
              <a:ext uri="{FF2B5EF4-FFF2-40B4-BE49-F238E27FC236}">
                <a16:creationId xmlns:a16="http://schemas.microsoft.com/office/drawing/2014/main" id="{0A2239EB-6584-D481-16EA-EA0F7173E5BA}"/>
              </a:ext>
            </a:extLst>
          </p:cNvPr>
          <p:cNvSpPr txBox="1"/>
          <p:nvPr/>
        </p:nvSpPr>
        <p:spPr>
          <a:xfrm>
            <a:off x="533400" y="749300"/>
            <a:ext cx="5363969" cy="253916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rtlCol="0" anchor="ctr">
            <a:normAutofit/>
          </a:bodyPr>
          <a:lstStyle/>
          <a:p>
            <a:r>
              <a:rPr lang="en-US" altLang="zh-CN" sz="1050">
                <a:solidFill>
                  <a:srgbClr val="687078"/>
                </a:solidFill>
                <a:latin typeface="Aptos" panose="020B0004020202020204" pitchFamily="34" charset="0"/>
              </a:rPr>
              <a:t>LLM agent inference • exact topology, controlled imperfection • native PowerPoint objects</a:t>
            </a:r>
            <a:endParaRPr lang="zh-CN" altLang="en-US" sz="1050">
              <a:solidFill>
                <a:srgbClr val="687078"/>
              </a:solidFill>
              <a:latin typeface="Aptos" panose="020B0004020202020204" pitchFamily="34" charset="0"/>
            </a:endParaRPr>
          </a:p>
        </p:txBody>
      </p:sp>
      <p:sp>
        <p:nvSpPr>
          <p:cNvPr id="6" name="hd_badge">
            <a:extLst>
              <a:ext uri="{FF2B5EF4-FFF2-40B4-BE49-F238E27FC236}">
                <a16:creationId xmlns:a16="http://schemas.microsoft.com/office/drawing/2014/main" id="{F4B8E213-8610-8FB1-6416-DA5824A127AF}"/>
              </a:ext>
            </a:extLst>
          </p:cNvPr>
          <p:cNvSpPr txBox="1"/>
          <p:nvPr/>
        </p:nvSpPr>
        <p:spPr>
          <a:xfrm>
            <a:off x="9035022" y="334791"/>
            <a:ext cx="2699778" cy="253916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rtlCol="0" anchor="ctr">
            <a:normAutofit/>
          </a:bodyPr>
          <a:lstStyle/>
          <a:p>
            <a:pPr algn="r"/>
            <a:r>
              <a:rPr lang="de-DE" altLang="zh-CN" sz="1050" b="1">
                <a:solidFill>
                  <a:srgbClr val="4F7CAC"/>
                </a:solidFill>
                <a:latin typeface="Segoe Print" panose="02000600000000000000" pitchFamily="2" charset="0"/>
              </a:rPr>
              <a:t>YOFO / HAND-DRAWN TECHNICAL</a:t>
            </a:r>
            <a:endParaRPr lang="zh-CN" altLang="en-US" sz="1050" b="1">
              <a:solidFill>
                <a:srgbClr val="4F7CAC"/>
              </a:solidFill>
              <a:latin typeface="Segoe Print" panose="02000600000000000000" pitchFamily="2" charset="0"/>
            </a:endParaRPr>
          </a:p>
        </p:txBody>
      </p:sp>
      <p:sp>
        <p:nvSpPr>
          <p:cNvPr id="7" name="hd_tag_ask_bg">
            <a:extLst>
              <a:ext uri="{FF2B5EF4-FFF2-40B4-BE49-F238E27FC236}">
                <a16:creationId xmlns:a16="http://schemas.microsoft.com/office/drawing/2014/main" id="{25F9F0E7-2AE3-C3B6-7D70-0A161DC6DEF0}"/>
              </a:ext>
            </a:extLst>
          </p:cNvPr>
          <p:cNvSpPr/>
          <p:nvPr/>
        </p:nvSpPr>
        <p:spPr>
          <a:xfrm rot="-66000">
            <a:off x="520700" y="1168400"/>
            <a:ext cx="825500" cy="304800"/>
          </a:xfrm>
          <a:prstGeom prst="roundRect">
            <a:avLst/>
          </a:prstGeom>
          <a:solidFill>
            <a:srgbClr val="E5EEF6"/>
          </a:solidFill>
          <a:ln w="19050" cap="flat" cmpd="sng" algn="ctr">
            <a:solidFill>
              <a:srgbClr val="E5EEF6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hd_tag_ask">
            <a:extLst>
              <a:ext uri="{FF2B5EF4-FFF2-40B4-BE49-F238E27FC236}">
                <a16:creationId xmlns:a16="http://schemas.microsoft.com/office/drawing/2014/main" id="{EDC18F80-3F41-0CFF-110B-3559C145C973}"/>
              </a:ext>
            </a:extLst>
          </p:cNvPr>
          <p:cNvSpPr txBox="1"/>
          <p:nvPr/>
        </p:nvSpPr>
        <p:spPr>
          <a:xfrm>
            <a:off x="699742" y="1155700"/>
            <a:ext cx="530915" cy="284693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de-DE" altLang="zh-CN" sz="1250" b="1">
                <a:solidFill>
                  <a:srgbClr val="4F7CAC"/>
                </a:solidFill>
                <a:latin typeface="Segoe Print" panose="02000600000000000000" pitchFamily="2" charset="0"/>
              </a:rPr>
              <a:t>ASK</a:t>
            </a:r>
            <a:endParaRPr lang="zh-CN" altLang="en-US" sz="1250" b="1">
              <a:solidFill>
                <a:srgbClr val="4F7CAC"/>
              </a:solidFill>
              <a:latin typeface="Segoe Print" panose="02000600000000000000" pitchFamily="2" charset="0"/>
            </a:endParaRPr>
          </a:p>
        </p:txBody>
      </p:sp>
      <p:sp>
        <p:nvSpPr>
          <p:cNvPr id="9" name="hd_question_head">
            <a:extLst>
              <a:ext uri="{FF2B5EF4-FFF2-40B4-BE49-F238E27FC236}">
                <a16:creationId xmlns:a16="http://schemas.microsoft.com/office/drawing/2014/main" id="{D27E1E2D-FB52-56A5-FF96-9065AA02CB6E}"/>
              </a:ext>
            </a:extLst>
          </p:cNvPr>
          <p:cNvSpPr/>
          <p:nvPr/>
        </p:nvSpPr>
        <p:spPr>
          <a:xfrm>
            <a:off x="736600" y="1714500"/>
            <a:ext cx="393700" cy="393700"/>
          </a:xfrm>
          <a:prstGeom prst="ellipse">
            <a:avLst/>
          </a:prstGeom>
          <a:solidFill>
            <a:srgbClr val="F7F3E8">
              <a:alpha val="0"/>
            </a:srgbClr>
          </a:solidFill>
          <a:ln w="2159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hd_question_body">
            <a:extLst>
              <a:ext uri="{FF2B5EF4-FFF2-40B4-BE49-F238E27FC236}">
                <a16:creationId xmlns:a16="http://schemas.microsoft.com/office/drawing/2014/main" id="{5239AE53-EAC2-443A-C193-1AFD54AC3312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933450" y="2108200"/>
            <a:ext cx="0" cy="457200"/>
          </a:xfrm>
          <a:prstGeom prst="line">
            <a:avLst/>
          </a:prstGeom>
          <a:ln w="21590">
            <a:solidFill>
              <a:srgbClr val="20252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hd_question_arm_l">
            <a:extLst>
              <a:ext uri="{FF2B5EF4-FFF2-40B4-BE49-F238E27FC236}">
                <a16:creationId xmlns:a16="http://schemas.microsoft.com/office/drawing/2014/main" id="{68EB6B12-2093-859D-02EF-EB0F54566A1B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 flipH="1">
            <a:off x="660400" y="2235200"/>
            <a:ext cx="273050" cy="165100"/>
          </a:xfrm>
          <a:prstGeom prst="line">
            <a:avLst/>
          </a:prstGeom>
          <a:ln w="21590">
            <a:solidFill>
              <a:srgbClr val="20252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hd_question_arm_r">
            <a:extLst>
              <a:ext uri="{FF2B5EF4-FFF2-40B4-BE49-F238E27FC236}">
                <a16:creationId xmlns:a16="http://schemas.microsoft.com/office/drawing/2014/main" id="{7AEA9D0E-B8C1-9AD4-2687-0C09CB133B6C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33450" y="2235200"/>
            <a:ext cx="260350" cy="139700"/>
          </a:xfrm>
          <a:prstGeom prst="line">
            <a:avLst/>
          </a:prstGeom>
          <a:ln w="21590">
            <a:solidFill>
              <a:srgbClr val="20252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hd_question_leg_l">
            <a:extLst>
              <a:ext uri="{FF2B5EF4-FFF2-40B4-BE49-F238E27FC236}">
                <a16:creationId xmlns:a16="http://schemas.microsoft.com/office/drawing/2014/main" id="{7AA000C3-11CA-F2CA-794A-F7104C3CB33E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 flipH="1">
            <a:off x="723900" y="2565400"/>
            <a:ext cx="209550" cy="228600"/>
          </a:xfrm>
          <a:prstGeom prst="line">
            <a:avLst/>
          </a:prstGeom>
          <a:ln w="21590">
            <a:solidFill>
              <a:srgbClr val="20252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hd_question_leg_r">
            <a:extLst>
              <a:ext uri="{FF2B5EF4-FFF2-40B4-BE49-F238E27FC236}">
                <a16:creationId xmlns:a16="http://schemas.microsoft.com/office/drawing/2014/main" id="{465A0F24-4E61-ABA5-953B-7824EF1B0179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33450" y="2565400"/>
            <a:ext cx="196850" cy="228600"/>
          </a:xfrm>
          <a:prstGeom prst="line">
            <a:avLst/>
          </a:prstGeom>
          <a:ln w="21590">
            <a:solidFill>
              <a:srgbClr val="20252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hd_question_bubble">
            <a:extLst>
              <a:ext uri="{FF2B5EF4-FFF2-40B4-BE49-F238E27FC236}">
                <a16:creationId xmlns:a16="http://schemas.microsoft.com/office/drawing/2014/main" id="{BAB75E2C-0594-1C09-B55E-023A74AC4F10}"/>
              </a:ext>
            </a:extLst>
          </p:cNvPr>
          <p:cNvSpPr/>
          <p:nvPr/>
        </p:nvSpPr>
        <p:spPr>
          <a:xfrm rot="42000">
            <a:off x="1219200" y="1676400"/>
            <a:ext cx="774700" cy="609600"/>
          </a:xfrm>
          <a:prstGeom prst="roundRect">
            <a:avLst/>
          </a:prstGeom>
          <a:solidFill>
            <a:srgbClr val="FFFDF7"/>
          </a:solidFill>
          <a:ln w="1905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rmAutofit/>
          </a:bodyPr>
          <a:lstStyle/>
          <a:p>
            <a:pPr algn="ctr"/>
            <a:r>
              <a:rPr lang="de-DE" altLang="zh-CN" sz="1500" b="1">
                <a:solidFill>
                  <a:srgbClr val="20252B"/>
                </a:solidFill>
                <a:latin typeface="Segoe Print" panose="02000600000000000000" pitchFamily="2" charset="0"/>
              </a:rPr>
              <a:t>Why?</a:t>
            </a:r>
            <a:endParaRPr lang="zh-CN" altLang="en-US" sz="1500" b="1">
              <a:solidFill>
                <a:srgbClr val="20252B"/>
              </a:solidFill>
              <a:latin typeface="Segoe Print" panose="02000600000000000000" pitchFamily="2" charset="0"/>
            </a:endParaRPr>
          </a:p>
        </p:txBody>
      </p:sp>
      <p:cxnSp>
        <p:nvCxnSpPr>
          <p:cNvPr id="16" name="hd_question_bubble_tail_a">
            <a:extLst>
              <a:ext uri="{FF2B5EF4-FFF2-40B4-BE49-F238E27FC236}">
                <a16:creationId xmlns:a16="http://schemas.microsoft.com/office/drawing/2014/main" id="{98BF74A9-BC1B-4A66-3A48-CA4322BD0CB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 flipH="1">
            <a:off x="1130300" y="2209800"/>
            <a:ext cx="139700" cy="76200"/>
          </a:xfrm>
          <a:prstGeom prst="line">
            <a:avLst/>
          </a:prstGeom>
          <a:ln w="17780">
            <a:solidFill>
              <a:srgbClr val="20252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hd_question_bubble_tail_b">
            <a:extLst>
              <a:ext uri="{FF2B5EF4-FFF2-40B4-BE49-F238E27FC236}">
                <a16:creationId xmlns:a16="http://schemas.microsoft.com/office/drawing/2014/main" id="{E547D6BA-A747-E038-C595-F40074D1B399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1130300" y="2286000"/>
            <a:ext cx="101600" cy="50800"/>
          </a:xfrm>
          <a:prstGeom prst="line">
            <a:avLst/>
          </a:prstGeom>
          <a:ln w="17780">
            <a:solidFill>
              <a:srgbClr val="20252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d_question_label">
            <a:extLst>
              <a:ext uri="{FF2B5EF4-FFF2-40B4-BE49-F238E27FC236}">
                <a16:creationId xmlns:a16="http://schemas.microsoft.com/office/drawing/2014/main" id="{4B9E846E-BFDB-D9CE-B21A-F3FD9D216C22}"/>
              </a:ext>
            </a:extLst>
          </p:cNvPr>
          <p:cNvSpPr txBox="1"/>
          <p:nvPr/>
        </p:nvSpPr>
        <p:spPr>
          <a:xfrm>
            <a:off x="495300" y="2857500"/>
            <a:ext cx="1574800" cy="269304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1150" b="1">
                <a:solidFill>
                  <a:srgbClr val="20252B"/>
                </a:solidFill>
                <a:latin typeface="Aptos" panose="020B0004020202020204" pitchFamily="34" charset="0"/>
              </a:rPr>
              <a:t>Question</a:t>
            </a:r>
            <a:endParaRPr lang="zh-CN" altLang="en-US" sz="1150" b="1">
              <a:solidFill>
                <a:srgbClr val="20252B"/>
              </a:solidFill>
              <a:latin typeface="Aptos" panose="020B0004020202020204" pitchFamily="34" charset="0"/>
            </a:endParaRPr>
          </a:p>
        </p:txBody>
      </p:sp>
      <p:sp>
        <p:nvSpPr>
          <p:cNvPr id="19" name="hd_sources_tag">
            <a:extLst>
              <a:ext uri="{FF2B5EF4-FFF2-40B4-BE49-F238E27FC236}">
                <a16:creationId xmlns:a16="http://schemas.microsoft.com/office/drawing/2014/main" id="{ECA4D9D7-2343-9809-ECE6-8EE1A78AEA3B}"/>
              </a:ext>
            </a:extLst>
          </p:cNvPr>
          <p:cNvSpPr txBox="1"/>
          <p:nvPr/>
        </p:nvSpPr>
        <p:spPr>
          <a:xfrm>
            <a:off x="558800" y="3403600"/>
            <a:ext cx="1333500" cy="269304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1150" b="1">
                <a:solidFill>
                  <a:srgbClr val="D96855"/>
                </a:solidFill>
                <a:latin typeface="Segoe Print" panose="02000600000000000000" pitchFamily="2" charset="0"/>
              </a:rPr>
              <a:t>EVIDENCE</a:t>
            </a:r>
            <a:endParaRPr lang="zh-CN" altLang="en-US" sz="1150" b="1">
              <a:solidFill>
                <a:srgbClr val="D96855"/>
              </a:solidFill>
              <a:latin typeface="Segoe Print" panose="02000600000000000000" pitchFamily="2" charset="0"/>
            </a:endParaRPr>
          </a:p>
        </p:txBody>
      </p:sp>
      <p:sp>
        <p:nvSpPr>
          <p:cNvPr id="20" name="hd_sources_back_coral">
            <a:extLst>
              <a:ext uri="{FF2B5EF4-FFF2-40B4-BE49-F238E27FC236}">
                <a16:creationId xmlns:a16="http://schemas.microsoft.com/office/drawing/2014/main" id="{A9F98FF7-FFC1-1B99-13B4-FC8EA8071CEC}"/>
              </a:ext>
            </a:extLst>
          </p:cNvPr>
          <p:cNvSpPr/>
          <p:nvPr/>
        </p:nvSpPr>
        <p:spPr>
          <a:xfrm rot="-72000">
            <a:off x="635000" y="3873500"/>
            <a:ext cx="914400" cy="711200"/>
          </a:xfrm>
          <a:prstGeom prst="rect">
            <a:avLst/>
          </a:prstGeom>
          <a:solidFill>
            <a:srgbClr val="F8E3DC"/>
          </a:solidFill>
          <a:ln w="1524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hd_sources_mid_blue">
            <a:extLst>
              <a:ext uri="{FF2B5EF4-FFF2-40B4-BE49-F238E27FC236}">
                <a16:creationId xmlns:a16="http://schemas.microsoft.com/office/drawing/2014/main" id="{2896CD6B-02CC-0A00-0B15-3884ED4650AE}"/>
              </a:ext>
            </a:extLst>
          </p:cNvPr>
          <p:cNvSpPr/>
          <p:nvPr/>
        </p:nvSpPr>
        <p:spPr>
          <a:xfrm rot="48000">
            <a:off x="723900" y="3784600"/>
            <a:ext cx="914400" cy="711200"/>
          </a:xfrm>
          <a:prstGeom prst="rect">
            <a:avLst/>
          </a:prstGeom>
          <a:solidFill>
            <a:srgbClr val="E5EEF6"/>
          </a:solidFill>
          <a:ln w="1524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hd_sources_front">
            <a:extLst>
              <a:ext uri="{FF2B5EF4-FFF2-40B4-BE49-F238E27FC236}">
                <a16:creationId xmlns:a16="http://schemas.microsoft.com/office/drawing/2014/main" id="{3AEE4CD1-5ED6-0964-4B03-14BE16095D23}"/>
              </a:ext>
            </a:extLst>
          </p:cNvPr>
          <p:cNvSpPr/>
          <p:nvPr/>
        </p:nvSpPr>
        <p:spPr>
          <a:xfrm rot="-24000">
            <a:off x="812800" y="3695700"/>
            <a:ext cx="914400" cy="711200"/>
          </a:xfrm>
          <a:prstGeom prst="rect">
            <a:avLst/>
          </a:prstGeom>
          <a:solidFill>
            <a:srgbClr val="FFFDF7"/>
          </a:solidFill>
          <a:ln w="1905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hd_sources_line_1">
            <a:extLst>
              <a:ext uri="{FF2B5EF4-FFF2-40B4-BE49-F238E27FC236}">
                <a16:creationId xmlns:a16="http://schemas.microsoft.com/office/drawing/2014/main" id="{6C0686FA-3F1B-69E9-3646-03CC4950D47E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977900" y="3898900"/>
            <a:ext cx="584200" cy="0"/>
          </a:xfrm>
          <a:prstGeom prst="line">
            <a:avLst/>
          </a:prstGeom>
          <a:ln w="13970">
            <a:solidFill>
              <a:srgbClr val="687078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hd_sources_line_2">
            <a:extLst>
              <a:ext uri="{FF2B5EF4-FFF2-40B4-BE49-F238E27FC236}">
                <a16:creationId xmlns:a16="http://schemas.microsoft.com/office/drawing/2014/main" id="{89E065ED-E422-CDC1-CEE1-78645F72C7C3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977900" y="4025900"/>
            <a:ext cx="520700" cy="0"/>
          </a:xfrm>
          <a:prstGeom prst="line">
            <a:avLst/>
          </a:prstGeom>
          <a:ln w="13970">
            <a:solidFill>
              <a:srgbClr val="687078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hd_sources_line_3">
            <a:extLst>
              <a:ext uri="{FF2B5EF4-FFF2-40B4-BE49-F238E27FC236}">
                <a16:creationId xmlns:a16="http://schemas.microsoft.com/office/drawing/2014/main" id="{96474077-58ED-BFEA-E771-19662B3A1AD6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977900" y="4152900"/>
            <a:ext cx="609600" cy="0"/>
          </a:xfrm>
          <a:prstGeom prst="line">
            <a:avLst/>
          </a:prstGeom>
          <a:ln w="13970">
            <a:solidFill>
              <a:srgbClr val="687078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d_sources_label">
            <a:extLst>
              <a:ext uri="{FF2B5EF4-FFF2-40B4-BE49-F238E27FC236}">
                <a16:creationId xmlns:a16="http://schemas.microsoft.com/office/drawing/2014/main" id="{48233E6C-0FFE-8D89-45E5-69EBD0CD8794}"/>
              </a:ext>
            </a:extLst>
          </p:cNvPr>
          <p:cNvSpPr txBox="1"/>
          <p:nvPr/>
        </p:nvSpPr>
        <p:spPr>
          <a:xfrm>
            <a:off x="482600" y="4584700"/>
            <a:ext cx="1625600" cy="261610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1100" b="1">
                <a:solidFill>
                  <a:srgbClr val="20252B"/>
                </a:solidFill>
                <a:latin typeface="Aptos" panose="020B0004020202020204" pitchFamily="34" charset="0"/>
              </a:rPr>
              <a:t>Retrieved sources</a:t>
            </a:r>
            <a:endParaRPr lang="zh-CN" altLang="en-US" sz="1100" b="1">
              <a:solidFill>
                <a:srgbClr val="20252B"/>
              </a:solidFill>
              <a:latin typeface="Aptos" panose="020B0004020202020204" pitchFamily="34" charset="0"/>
            </a:endParaRPr>
          </a:p>
        </p:txBody>
      </p:sp>
      <p:sp>
        <p:nvSpPr>
          <p:cNvPr id="27" name="hd_tag_ground_bg">
            <a:extLst>
              <a:ext uri="{FF2B5EF4-FFF2-40B4-BE49-F238E27FC236}">
                <a16:creationId xmlns:a16="http://schemas.microsoft.com/office/drawing/2014/main" id="{142230E3-4BD5-38A4-800B-6169BD4E1206}"/>
              </a:ext>
            </a:extLst>
          </p:cNvPr>
          <p:cNvSpPr/>
          <p:nvPr/>
        </p:nvSpPr>
        <p:spPr>
          <a:xfrm rot="48000">
            <a:off x="2616200" y="1155700"/>
            <a:ext cx="1143000" cy="317500"/>
          </a:xfrm>
          <a:prstGeom prst="roundRect">
            <a:avLst/>
          </a:prstGeom>
          <a:solidFill>
            <a:srgbClr val="D8E8F4"/>
          </a:solidFill>
          <a:ln w="19050" cap="flat" cmpd="sng" algn="ctr">
            <a:solidFill>
              <a:srgbClr val="D8E8F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hd_tag_ground">
            <a:extLst>
              <a:ext uri="{FF2B5EF4-FFF2-40B4-BE49-F238E27FC236}">
                <a16:creationId xmlns:a16="http://schemas.microsoft.com/office/drawing/2014/main" id="{DFC3037A-A9B1-0100-A228-C3B86F49888F}"/>
              </a:ext>
            </a:extLst>
          </p:cNvPr>
          <p:cNvSpPr txBox="1"/>
          <p:nvPr/>
        </p:nvSpPr>
        <p:spPr>
          <a:xfrm>
            <a:off x="2692400" y="1155700"/>
            <a:ext cx="1041400" cy="276999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1200" b="1">
                <a:solidFill>
                  <a:srgbClr val="4F7CAC"/>
                </a:solidFill>
                <a:latin typeface="Segoe Print" panose="02000600000000000000" pitchFamily="2" charset="0"/>
              </a:rPr>
              <a:t>GROUND</a:t>
            </a:r>
            <a:endParaRPr lang="zh-CN" altLang="en-US" sz="1200" b="1">
              <a:solidFill>
                <a:srgbClr val="4F7CAC"/>
              </a:solidFill>
              <a:latin typeface="Segoe Print" panose="02000600000000000000" pitchFamily="2" charset="0"/>
            </a:endParaRPr>
          </a:p>
        </p:txBody>
      </p:sp>
      <p:sp>
        <p:nvSpPr>
          <p:cNvPr id="29" name="hd_context_panel">
            <a:extLst>
              <a:ext uri="{FF2B5EF4-FFF2-40B4-BE49-F238E27FC236}">
                <a16:creationId xmlns:a16="http://schemas.microsoft.com/office/drawing/2014/main" id="{9550F10B-2B7B-F795-05C5-FC22EB4C1CFC}"/>
              </a:ext>
            </a:extLst>
          </p:cNvPr>
          <p:cNvSpPr/>
          <p:nvPr/>
        </p:nvSpPr>
        <p:spPr>
          <a:xfrm>
            <a:off x="2489200" y="1600200"/>
            <a:ext cx="2159000" cy="3022600"/>
          </a:xfrm>
          <a:prstGeom prst="roundRect">
            <a:avLst/>
          </a:prstGeom>
          <a:solidFill>
            <a:srgbClr val="E5EEF6"/>
          </a:solidFill>
          <a:ln w="22860">
            <a:solidFill>
              <a:srgbClr val="4F7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hd_context_title">
            <a:extLst>
              <a:ext uri="{FF2B5EF4-FFF2-40B4-BE49-F238E27FC236}">
                <a16:creationId xmlns:a16="http://schemas.microsoft.com/office/drawing/2014/main" id="{37467749-6033-A596-E13E-70F54EB54CDA}"/>
              </a:ext>
            </a:extLst>
          </p:cNvPr>
          <p:cNvSpPr txBox="1"/>
          <p:nvPr/>
        </p:nvSpPr>
        <p:spPr>
          <a:xfrm>
            <a:off x="2679700" y="1739900"/>
            <a:ext cx="1778000" cy="538609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de-DE" altLang="zh-CN" sz="1450" b="1">
                <a:solidFill>
                  <a:srgbClr val="20252B"/>
                </a:solidFill>
                <a:latin typeface="Segoe Print" panose="02000600000000000000" pitchFamily="2" charset="0"/>
              </a:rPr>
              <a:t>CONTEXT BUILDER</a:t>
            </a:r>
            <a:endParaRPr lang="zh-CN" altLang="en-US" sz="1450" b="1">
              <a:solidFill>
                <a:srgbClr val="20252B"/>
              </a:solidFill>
              <a:latin typeface="Segoe Print" panose="02000600000000000000" pitchFamily="2" charset="0"/>
            </a:endParaRPr>
          </a:p>
        </p:txBody>
      </p:sp>
      <p:sp>
        <p:nvSpPr>
          <p:cNvPr id="31" name="hd_context_retrieve">
            <a:extLst>
              <a:ext uri="{FF2B5EF4-FFF2-40B4-BE49-F238E27FC236}">
                <a16:creationId xmlns:a16="http://schemas.microsoft.com/office/drawing/2014/main" id="{C6462FB2-03CC-CEA2-2D29-83D67200DEFF}"/>
              </a:ext>
            </a:extLst>
          </p:cNvPr>
          <p:cNvSpPr/>
          <p:nvPr/>
        </p:nvSpPr>
        <p:spPr>
          <a:xfrm>
            <a:off x="2794000" y="2247900"/>
            <a:ext cx="1549400" cy="43180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4F7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lang="de-DE" altLang="zh-CN" sz="1150" b="1">
                <a:solidFill>
                  <a:srgbClr val="20252B"/>
                </a:solidFill>
                <a:latin typeface="Aptos" panose="020B0004020202020204" pitchFamily="34" charset="0"/>
              </a:rPr>
              <a:t>retrieve evidence</a:t>
            </a:r>
            <a:endParaRPr lang="zh-CN" altLang="en-US" sz="1150" b="1">
              <a:solidFill>
                <a:srgbClr val="20252B"/>
              </a:solidFill>
              <a:latin typeface="Aptos" panose="020B0004020202020204" pitchFamily="34" charset="0"/>
            </a:endParaRPr>
          </a:p>
        </p:txBody>
      </p:sp>
      <p:sp>
        <p:nvSpPr>
          <p:cNvPr id="32" name="hd_context_tokenize">
            <a:extLst>
              <a:ext uri="{FF2B5EF4-FFF2-40B4-BE49-F238E27FC236}">
                <a16:creationId xmlns:a16="http://schemas.microsoft.com/office/drawing/2014/main" id="{94A964C7-7046-8D2B-C3B2-8CD1A63C8CA1}"/>
              </a:ext>
            </a:extLst>
          </p:cNvPr>
          <p:cNvSpPr/>
          <p:nvPr/>
        </p:nvSpPr>
        <p:spPr>
          <a:xfrm>
            <a:off x="2794000" y="2794000"/>
            <a:ext cx="1549400" cy="43180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4F7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lang="de-DE" altLang="zh-CN" sz="1150" b="1">
                <a:solidFill>
                  <a:srgbClr val="20252B"/>
                </a:solidFill>
                <a:latin typeface="Aptos" panose="020B0004020202020204" pitchFamily="34" charset="0"/>
              </a:rPr>
              <a:t>tokenize</a:t>
            </a:r>
            <a:endParaRPr lang="zh-CN" altLang="en-US" sz="1150" b="1">
              <a:solidFill>
                <a:srgbClr val="20252B"/>
              </a:solidFill>
              <a:latin typeface="Aptos" panose="020B0004020202020204" pitchFamily="34" charset="0"/>
            </a:endParaRPr>
          </a:p>
        </p:txBody>
      </p:sp>
      <p:sp>
        <p:nvSpPr>
          <p:cNvPr id="33" name="hd_context_assemble">
            <a:extLst>
              <a:ext uri="{FF2B5EF4-FFF2-40B4-BE49-F238E27FC236}">
                <a16:creationId xmlns:a16="http://schemas.microsoft.com/office/drawing/2014/main" id="{F61BDB3B-B36B-2100-B87A-FA7E91E5A33B}"/>
              </a:ext>
            </a:extLst>
          </p:cNvPr>
          <p:cNvSpPr/>
          <p:nvPr/>
        </p:nvSpPr>
        <p:spPr>
          <a:xfrm>
            <a:off x="2794000" y="3340100"/>
            <a:ext cx="1549400" cy="431800"/>
          </a:xfrm>
          <a:prstGeom prst="roundRect">
            <a:avLst/>
          </a:prstGeom>
          <a:solidFill>
            <a:srgbClr val="FFFDF7"/>
          </a:solidFill>
          <a:ln w="13970">
            <a:solidFill>
              <a:srgbClr val="4F7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>
            <a:normAutofit/>
          </a:bodyPr>
          <a:lstStyle/>
          <a:p>
            <a:pPr algn="ctr"/>
            <a:r>
              <a:rPr lang="de-DE" altLang="zh-CN" sz="1150" b="1">
                <a:solidFill>
                  <a:srgbClr val="20252B"/>
                </a:solidFill>
                <a:latin typeface="Aptos" panose="020B0004020202020204" pitchFamily="34" charset="0"/>
              </a:rPr>
              <a:t>assemble context</a:t>
            </a:r>
            <a:endParaRPr lang="zh-CN" altLang="en-US" sz="1150" b="1">
              <a:solidFill>
                <a:srgbClr val="20252B"/>
              </a:solidFill>
              <a:latin typeface="Aptos" panose="020B0004020202020204" pitchFamily="34" charset="0"/>
            </a:endParaRPr>
          </a:p>
        </p:txBody>
      </p:sp>
      <p:cxnSp>
        <p:nvCxnSpPr>
          <p:cNvPr id="34" name="hd_context_internal_1">
            <a:extLst>
              <a:ext uri="{FF2B5EF4-FFF2-40B4-BE49-F238E27FC236}">
                <a16:creationId xmlns:a16="http://schemas.microsoft.com/office/drawing/2014/main" id="{9481742C-9440-FB23-7C01-3CFEEB532F7E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3568700" y="2679700"/>
            <a:ext cx="0" cy="101600"/>
          </a:xfrm>
          <a:prstGeom prst="line">
            <a:avLst/>
          </a:prstGeom>
          <a:ln w="15240">
            <a:solidFill>
              <a:srgbClr val="4F7CAC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hd_context_internal_2">
            <a:extLst>
              <a:ext uri="{FF2B5EF4-FFF2-40B4-BE49-F238E27FC236}">
                <a16:creationId xmlns:a16="http://schemas.microsoft.com/office/drawing/2014/main" id="{A8DA2E9A-BA65-1B36-4255-7CC6FA444586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3568700" y="3225800"/>
            <a:ext cx="0" cy="101600"/>
          </a:xfrm>
          <a:prstGeom prst="line">
            <a:avLst/>
          </a:prstGeom>
          <a:ln w="15240">
            <a:solidFill>
              <a:srgbClr val="4F7CAC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hd_context_tokens_label">
            <a:extLst>
              <a:ext uri="{FF2B5EF4-FFF2-40B4-BE49-F238E27FC236}">
                <a16:creationId xmlns:a16="http://schemas.microsoft.com/office/drawing/2014/main" id="{A371098F-5251-5B03-FF7C-4E379A52588A}"/>
              </a:ext>
            </a:extLst>
          </p:cNvPr>
          <p:cNvSpPr txBox="1"/>
          <p:nvPr/>
        </p:nvSpPr>
        <p:spPr>
          <a:xfrm>
            <a:off x="2755900" y="3822700"/>
            <a:ext cx="1625600" cy="238527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950" b="1">
                <a:solidFill>
                  <a:srgbClr val="687078"/>
                </a:solidFill>
                <a:latin typeface="Aptos" panose="020B0004020202020204" pitchFamily="34" charset="0"/>
              </a:rPr>
              <a:t>Context tokens</a:t>
            </a:r>
            <a:endParaRPr lang="zh-CN" altLang="en-US" sz="950" b="1">
              <a:solidFill>
                <a:srgbClr val="687078"/>
              </a:solidFill>
              <a:latin typeface="Aptos" panose="020B0004020202020204" pitchFamily="34" charset="0"/>
            </a:endParaRPr>
          </a:p>
        </p:txBody>
      </p:sp>
      <p:sp>
        <p:nvSpPr>
          <p:cNvPr id="38" name="hd_token_1">
            <a:extLst>
              <a:ext uri="{FF2B5EF4-FFF2-40B4-BE49-F238E27FC236}">
                <a16:creationId xmlns:a16="http://schemas.microsoft.com/office/drawing/2014/main" id="{05C7D9FB-3158-FF1B-ABA0-0D2AC4DF0207}"/>
              </a:ext>
            </a:extLst>
          </p:cNvPr>
          <p:cNvSpPr/>
          <p:nvPr/>
        </p:nvSpPr>
        <p:spPr>
          <a:xfrm>
            <a:off x="2768600" y="4140200"/>
            <a:ext cx="152400" cy="228600"/>
          </a:xfrm>
          <a:prstGeom prst="rect">
            <a:avLst/>
          </a:prstGeom>
          <a:solidFill>
            <a:srgbClr val="D96855">
              <a:alpha val="92000"/>
            </a:srgbClr>
          </a:solidFill>
          <a:ln w="889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hd_token_2">
            <a:extLst>
              <a:ext uri="{FF2B5EF4-FFF2-40B4-BE49-F238E27FC236}">
                <a16:creationId xmlns:a16="http://schemas.microsoft.com/office/drawing/2014/main" id="{9CD67827-03BE-D1A5-4A3F-AA62D02EDD27}"/>
              </a:ext>
            </a:extLst>
          </p:cNvPr>
          <p:cNvSpPr/>
          <p:nvPr/>
        </p:nvSpPr>
        <p:spPr>
          <a:xfrm>
            <a:off x="2965450" y="4140200"/>
            <a:ext cx="152400" cy="228600"/>
          </a:xfrm>
          <a:prstGeom prst="rect">
            <a:avLst/>
          </a:prstGeom>
          <a:solidFill>
            <a:srgbClr val="4F7CAC">
              <a:alpha val="92000"/>
            </a:srgbClr>
          </a:solidFill>
          <a:ln w="889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hd_token_3">
            <a:extLst>
              <a:ext uri="{FF2B5EF4-FFF2-40B4-BE49-F238E27FC236}">
                <a16:creationId xmlns:a16="http://schemas.microsoft.com/office/drawing/2014/main" id="{7F16617F-386D-5F4C-75CA-DCA3CE8112A8}"/>
              </a:ext>
            </a:extLst>
          </p:cNvPr>
          <p:cNvSpPr/>
          <p:nvPr/>
        </p:nvSpPr>
        <p:spPr>
          <a:xfrm>
            <a:off x="3162300" y="4140200"/>
            <a:ext cx="152400" cy="228600"/>
          </a:xfrm>
          <a:prstGeom prst="rect">
            <a:avLst/>
          </a:prstGeom>
          <a:solidFill>
            <a:srgbClr val="E09F3E">
              <a:alpha val="92000"/>
            </a:srgbClr>
          </a:solidFill>
          <a:ln w="889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hd_token_4">
            <a:extLst>
              <a:ext uri="{FF2B5EF4-FFF2-40B4-BE49-F238E27FC236}">
                <a16:creationId xmlns:a16="http://schemas.microsoft.com/office/drawing/2014/main" id="{3F58A70A-668E-57CD-D9F1-E44A34673688}"/>
              </a:ext>
            </a:extLst>
          </p:cNvPr>
          <p:cNvSpPr/>
          <p:nvPr/>
        </p:nvSpPr>
        <p:spPr>
          <a:xfrm>
            <a:off x="3359150" y="4140200"/>
            <a:ext cx="152400" cy="228600"/>
          </a:xfrm>
          <a:prstGeom prst="rect">
            <a:avLst/>
          </a:prstGeom>
          <a:solidFill>
            <a:srgbClr val="D96855">
              <a:alpha val="92000"/>
            </a:srgbClr>
          </a:solidFill>
          <a:ln w="889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hd_token_5">
            <a:extLst>
              <a:ext uri="{FF2B5EF4-FFF2-40B4-BE49-F238E27FC236}">
                <a16:creationId xmlns:a16="http://schemas.microsoft.com/office/drawing/2014/main" id="{0E87DBD6-FE97-0B0C-37EC-622016CFAC52}"/>
              </a:ext>
            </a:extLst>
          </p:cNvPr>
          <p:cNvSpPr/>
          <p:nvPr/>
        </p:nvSpPr>
        <p:spPr>
          <a:xfrm>
            <a:off x="3556000" y="4140200"/>
            <a:ext cx="152400" cy="228600"/>
          </a:xfrm>
          <a:prstGeom prst="rect">
            <a:avLst/>
          </a:prstGeom>
          <a:solidFill>
            <a:srgbClr val="4F7CAC">
              <a:alpha val="92000"/>
            </a:srgbClr>
          </a:solidFill>
          <a:ln w="889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hd_token_6">
            <a:extLst>
              <a:ext uri="{FF2B5EF4-FFF2-40B4-BE49-F238E27FC236}">
                <a16:creationId xmlns:a16="http://schemas.microsoft.com/office/drawing/2014/main" id="{A224CBFE-4727-8F0A-F9F1-B9ED9E3583B7}"/>
              </a:ext>
            </a:extLst>
          </p:cNvPr>
          <p:cNvSpPr/>
          <p:nvPr/>
        </p:nvSpPr>
        <p:spPr>
          <a:xfrm>
            <a:off x="3752850" y="4140200"/>
            <a:ext cx="152400" cy="228600"/>
          </a:xfrm>
          <a:prstGeom prst="rect">
            <a:avLst/>
          </a:prstGeom>
          <a:solidFill>
            <a:srgbClr val="E09F3E">
              <a:alpha val="92000"/>
            </a:srgbClr>
          </a:solidFill>
          <a:ln w="889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hd_token_7">
            <a:extLst>
              <a:ext uri="{FF2B5EF4-FFF2-40B4-BE49-F238E27FC236}">
                <a16:creationId xmlns:a16="http://schemas.microsoft.com/office/drawing/2014/main" id="{0389C3A6-CA1F-6C76-9B6D-C94EF86A7AC7}"/>
              </a:ext>
            </a:extLst>
          </p:cNvPr>
          <p:cNvSpPr/>
          <p:nvPr/>
        </p:nvSpPr>
        <p:spPr>
          <a:xfrm>
            <a:off x="3949700" y="4140200"/>
            <a:ext cx="152400" cy="228600"/>
          </a:xfrm>
          <a:prstGeom prst="rect">
            <a:avLst/>
          </a:prstGeom>
          <a:solidFill>
            <a:srgbClr val="D96855">
              <a:alpha val="92000"/>
            </a:srgbClr>
          </a:solidFill>
          <a:ln w="889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hd_token_8">
            <a:extLst>
              <a:ext uri="{FF2B5EF4-FFF2-40B4-BE49-F238E27FC236}">
                <a16:creationId xmlns:a16="http://schemas.microsoft.com/office/drawing/2014/main" id="{CF7BC35D-F729-1350-BCB6-4398B93D756D}"/>
              </a:ext>
            </a:extLst>
          </p:cNvPr>
          <p:cNvSpPr/>
          <p:nvPr/>
        </p:nvSpPr>
        <p:spPr>
          <a:xfrm>
            <a:off x="4146550" y="4140200"/>
            <a:ext cx="152400" cy="228600"/>
          </a:xfrm>
          <a:prstGeom prst="rect">
            <a:avLst/>
          </a:prstGeom>
          <a:solidFill>
            <a:srgbClr val="4F7CAC">
              <a:alpha val="92000"/>
            </a:srgbClr>
          </a:solidFill>
          <a:ln w="889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edge_question_context">
            <a:extLst>
              <a:ext uri="{FF2B5EF4-FFF2-40B4-BE49-F238E27FC236}">
                <a16:creationId xmlns:a16="http://schemas.microsoft.com/office/drawing/2014/main" id="{1C4102C9-F89F-78BA-7903-3BC34237B691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1993900" y="1981200"/>
            <a:ext cx="450572" cy="242616"/>
          </a:xfrm>
          <a:prstGeom prst="line">
            <a:avLst/>
          </a:prstGeom>
          <a:ln w="21590">
            <a:solidFill>
              <a:srgbClr val="20252B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dge_sources_context">
            <a:extLst>
              <a:ext uri="{FF2B5EF4-FFF2-40B4-BE49-F238E27FC236}">
                <a16:creationId xmlns:a16="http://schemas.microsoft.com/office/drawing/2014/main" id="{FB541BDE-C77E-7170-6787-90549A6A6391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flipV="1">
            <a:off x="1727200" y="3908863"/>
            <a:ext cx="712187" cy="142437"/>
          </a:xfrm>
          <a:prstGeom prst="line">
            <a:avLst/>
          </a:prstGeom>
          <a:ln w="21590">
            <a:solidFill>
              <a:srgbClr val="20252B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dge_context_tokens_h1">
            <a:extLst>
              <a:ext uri="{FF2B5EF4-FFF2-40B4-BE49-F238E27FC236}">
                <a16:creationId xmlns:a16="http://schemas.microsoft.com/office/drawing/2014/main" id="{491D8803-FF79-AA3D-7675-4C73F4BF379D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>
            <a:off x="3568700" y="3771900"/>
            <a:ext cx="901700" cy="0"/>
          </a:xfrm>
          <a:prstGeom prst="line">
            <a:avLst/>
          </a:prstGeom>
          <a:ln w="15240">
            <a:solidFill>
              <a:srgbClr val="4F7CAC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dge_context_tokens_v">
            <a:extLst>
              <a:ext uri="{FF2B5EF4-FFF2-40B4-BE49-F238E27FC236}">
                <a16:creationId xmlns:a16="http://schemas.microsoft.com/office/drawing/2014/main" id="{97182D75-E3FC-6AB1-3EEC-844AD4C05AFA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>
            <a:off x="4470400" y="3771900"/>
            <a:ext cx="0" cy="482600"/>
          </a:xfrm>
          <a:prstGeom prst="line">
            <a:avLst/>
          </a:prstGeom>
          <a:ln w="15240">
            <a:solidFill>
              <a:srgbClr val="4F7CAC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dge_context_tokens_h2">
            <a:extLst>
              <a:ext uri="{FF2B5EF4-FFF2-40B4-BE49-F238E27FC236}">
                <a16:creationId xmlns:a16="http://schemas.microsoft.com/office/drawing/2014/main" id="{746831D3-4FB8-BC91-6DAE-A6C9DE5A3367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flipH="1">
            <a:off x="4330700" y="4254500"/>
            <a:ext cx="139700" cy="0"/>
          </a:xfrm>
          <a:prstGeom prst="line">
            <a:avLst/>
          </a:prstGeom>
          <a:ln w="15240">
            <a:solidFill>
              <a:srgbClr val="4F7CAC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hd_tag_think_bg">
            <a:extLst>
              <a:ext uri="{FF2B5EF4-FFF2-40B4-BE49-F238E27FC236}">
                <a16:creationId xmlns:a16="http://schemas.microsoft.com/office/drawing/2014/main" id="{8D2CA212-9A34-C209-7E49-6BE7E36947AA}"/>
              </a:ext>
            </a:extLst>
          </p:cNvPr>
          <p:cNvSpPr/>
          <p:nvPr/>
        </p:nvSpPr>
        <p:spPr>
          <a:xfrm rot="-48000">
            <a:off x="5664200" y="1066800"/>
            <a:ext cx="1117600" cy="317500"/>
          </a:xfrm>
          <a:prstGeom prst="roundRect">
            <a:avLst/>
          </a:prstGeom>
          <a:solidFill>
            <a:srgbClr val="F8EDD2"/>
          </a:solidFill>
          <a:ln w="19050" cap="flat" cmpd="sng" algn="ctr">
            <a:solidFill>
              <a:srgbClr val="F8EDD2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hd_tag_think">
            <a:extLst>
              <a:ext uri="{FF2B5EF4-FFF2-40B4-BE49-F238E27FC236}">
                <a16:creationId xmlns:a16="http://schemas.microsoft.com/office/drawing/2014/main" id="{FEDE83C4-3065-8F7E-52B9-5DC2902301C1}"/>
              </a:ext>
            </a:extLst>
          </p:cNvPr>
          <p:cNvSpPr txBox="1"/>
          <p:nvPr/>
        </p:nvSpPr>
        <p:spPr>
          <a:xfrm>
            <a:off x="5727700" y="1066800"/>
            <a:ext cx="990600" cy="284693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1250" b="1">
                <a:solidFill>
                  <a:srgbClr val="B56F13"/>
                </a:solidFill>
                <a:latin typeface="Segoe Print" panose="02000600000000000000" pitchFamily="2" charset="0"/>
              </a:rPr>
              <a:t>THINK</a:t>
            </a:r>
            <a:endParaRPr lang="zh-CN" altLang="en-US" sz="1250" b="1">
              <a:solidFill>
                <a:srgbClr val="B56F13"/>
              </a:solidFill>
              <a:latin typeface="Segoe Print" panose="02000600000000000000" pitchFamily="2" charset="0"/>
            </a:endParaRPr>
          </a:p>
        </p:txBody>
      </p:sp>
      <p:sp>
        <p:nvSpPr>
          <p:cNvPr id="53" name="hd_llm_background_accent">
            <a:extLst>
              <a:ext uri="{FF2B5EF4-FFF2-40B4-BE49-F238E27FC236}">
                <a16:creationId xmlns:a16="http://schemas.microsoft.com/office/drawing/2014/main" id="{BD3D383F-2F78-CC0E-56E5-281B56BB84E8}"/>
              </a:ext>
            </a:extLst>
          </p:cNvPr>
          <p:cNvSpPr/>
          <p:nvPr/>
        </p:nvSpPr>
        <p:spPr>
          <a:xfrm rot="33000">
            <a:off x="5207000" y="1397000"/>
            <a:ext cx="2870200" cy="3556000"/>
          </a:xfrm>
          <a:prstGeom prst="roundRect">
            <a:avLst/>
          </a:prstGeom>
          <a:solidFill>
            <a:srgbClr val="F7F3E8">
              <a:alpha val="0"/>
            </a:srgbClr>
          </a:solidFill>
          <a:ln w="17780" cap="flat" cmpd="sng" algn="ctr">
            <a:solidFill>
              <a:srgbClr val="D96855">
                <a:alpha val="6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hd_llm_panel">
            <a:extLst>
              <a:ext uri="{FF2B5EF4-FFF2-40B4-BE49-F238E27FC236}">
                <a16:creationId xmlns:a16="http://schemas.microsoft.com/office/drawing/2014/main" id="{3C79351F-9BE5-F68A-E68E-D6DE3342099B}"/>
              </a:ext>
            </a:extLst>
          </p:cNvPr>
          <p:cNvSpPr/>
          <p:nvPr/>
        </p:nvSpPr>
        <p:spPr>
          <a:xfrm>
            <a:off x="5143500" y="1333500"/>
            <a:ext cx="2870200" cy="3556000"/>
          </a:xfrm>
          <a:prstGeom prst="roundRect">
            <a:avLst/>
          </a:prstGeom>
          <a:solidFill>
            <a:srgbClr val="26343D"/>
          </a:solidFill>
          <a:ln w="2667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hd_llm_title">
            <a:extLst>
              <a:ext uri="{FF2B5EF4-FFF2-40B4-BE49-F238E27FC236}">
                <a16:creationId xmlns:a16="http://schemas.microsoft.com/office/drawing/2014/main" id="{590F0943-BA40-BB56-2D4C-EDA1A04960B9}"/>
              </a:ext>
            </a:extLst>
          </p:cNvPr>
          <p:cNvSpPr txBox="1"/>
          <p:nvPr/>
        </p:nvSpPr>
        <p:spPr>
          <a:xfrm>
            <a:off x="5473700" y="1485900"/>
            <a:ext cx="2209800" cy="353943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1700" b="1">
                <a:solidFill>
                  <a:srgbClr val="FFFDF7"/>
                </a:solidFill>
                <a:latin typeface="Segoe Print" panose="02000600000000000000" pitchFamily="2" charset="0"/>
              </a:rPr>
              <a:t>LLM CORE</a:t>
            </a:r>
            <a:endParaRPr lang="zh-CN" altLang="en-US" sz="1700" b="1">
              <a:solidFill>
                <a:srgbClr val="FFFDF7"/>
              </a:solidFill>
              <a:latin typeface="Segoe Print" panose="02000600000000000000" pitchFamily="2" charset="0"/>
            </a:endParaRPr>
          </a:p>
        </p:txBody>
      </p:sp>
      <p:sp>
        <p:nvSpPr>
          <p:cNvPr id="56" name="hd_llm_caption">
            <a:extLst>
              <a:ext uri="{FF2B5EF4-FFF2-40B4-BE49-F238E27FC236}">
                <a16:creationId xmlns:a16="http://schemas.microsoft.com/office/drawing/2014/main" id="{613B718C-0798-586F-2265-D1C0682192ED}"/>
              </a:ext>
            </a:extLst>
          </p:cNvPr>
          <p:cNvSpPr txBox="1"/>
          <p:nvPr/>
        </p:nvSpPr>
        <p:spPr>
          <a:xfrm>
            <a:off x="5473700" y="1879600"/>
            <a:ext cx="2209800" cy="230832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900" i="1">
                <a:solidFill>
                  <a:srgbClr val="C9D5DB"/>
                </a:solidFill>
                <a:latin typeface="Aptos" panose="020B0004020202020204" pitchFamily="34" charset="0"/>
              </a:rPr>
              <a:t>frozen weights during inference</a:t>
            </a:r>
            <a:endParaRPr lang="zh-CN" altLang="en-US" sz="900" i="1">
              <a:solidFill>
                <a:srgbClr val="C9D5DB"/>
              </a:solidFill>
              <a:latin typeface="Aptos" panose="020B0004020202020204" pitchFamily="34" charset="0"/>
            </a:endParaRPr>
          </a:p>
        </p:txBody>
      </p:sp>
      <p:sp>
        <p:nvSpPr>
          <p:cNvPr id="57" name="hd_llm_attention">
            <a:extLst>
              <a:ext uri="{FF2B5EF4-FFF2-40B4-BE49-F238E27FC236}">
                <a16:creationId xmlns:a16="http://schemas.microsoft.com/office/drawing/2014/main" id="{4D8C3E5A-A6A5-567B-19A7-47E77531BC0F}"/>
              </a:ext>
            </a:extLst>
          </p:cNvPr>
          <p:cNvSpPr/>
          <p:nvPr/>
        </p:nvSpPr>
        <p:spPr>
          <a:xfrm>
            <a:off x="5473700" y="2209800"/>
            <a:ext cx="2209800" cy="584200"/>
          </a:xfrm>
          <a:prstGeom prst="roundRect">
            <a:avLst/>
          </a:prstGeom>
          <a:solidFill>
            <a:srgbClr val="E5EEF6"/>
          </a:solidFill>
          <a:ln w="13970">
            <a:solidFill>
              <a:srgbClr val="8FB2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de-DE" altLang="zh-CN" sz="1200" b="1">
                <a:solidFill>
                  <a:srgbClr val="20252B"/>
                </a:solidFill>
                <a:latin typeface="Aptos" panose="020B0004020202020204" pitchFamily="34" charset="0"/>
              </a:rPr>
              <a:t>SELF-ATTENTION</a:t>
            </a:r>
            <a:endParaRPr lang="zh-CN" altLang="en-US" sz="1200" b="1">
              <a:solidFill>
                <a:srgbClr val="20252B"/>
              </a:solidFill>
              <a:latin typeface="Aptos" panose="020B0004020202020204" pitchFamily="34" charset="0"/>
            </a:endParaRPr>
          </a:p>
        </p:txBody>
      </p:sp>
      <p:sp>
        <p:nvSpPr>
          <p:cNvPr id="58" name="hd_llm_ffn">
            <a:extLst>
              <a:ext uri="{FF2B5EF4-FFF2-40B4-BE49-F238E27FC236}">
                <a16:creationId xmlns:a16="http://schemas.microsoft.com/office/drawing/2014/main" id="{918D6063-A892-A387-4523-A667152CE6DA}"/>
              </a:ext>
            </a:extLst>
          </p:cNvPr>
          <p:cNvSpPr/>
          <p:nvPr/>
        </p:nvSpPr>
        <p:spPr>
          <a:xfrm>
            <a:off x="5473700" y="2997200"/>
            <a:ext cx="2209800" cy="584200"/>
          </a:xfrm>
          <a:prstGeom prst="roundRect">
            <a:avLst/>
          </a:prstGeom>
          <a:solidFill>
            <a:srgbClr val="F8EDD2"/>
          </a:solidFill>
          <a:ln w="13970">
            <a:solidFill>
              <a:srgbClr val="E09F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Autofit/>
          </a:bodyPr>
          <a:lstStyle/>
          <a:p>
            <a:pPr algn="ctr"/>
            <a:r>
              <a:rPr lang="de-DE" altLang="zh-CN" sz="1200" b="1">
                <a:solidFill>
                  <a:srgbClr val="20252B"/>
                </a:solidFill>
                <a:latin typeface="Aptos" panose="020B0004020202020204" pitchFamily="34" charset="0"/>
              </a:rPr>
              <a:t>FEED-FORWARD</a:t>
            </a:r>
            <a:endParaRPr lang="zh-CN" altLang="en-US" sz="1200" b="1">
              <a:solidFill>
                <a:srgbClr val="20252B"/>
              </a:solidFill>
              <a:latin typeface="Aptos" panose="020B0004020202020204" pitchFamily="34" charset="0"/>
            </a:endParaRPr>
          </a:p>
        </p:txBody>
      </p:sp>
      <p:sp>
        <p:nvSpPr>
          <p:cNvPr id="59" name="hd_llm_next_probs">
            <a:extLst>
              <a:ext uri="{FF2B5EF4-FFF2-40B4-BE49-F238E27FC236}">
                <a16:creationId xmlns:a16="http://schemas.microsoft.com/office/drawing/2014/main" id="{FB58B1A5-D1C2-D61D-86A0-04F1EE43F3F1}"/>
              </a:ext>
            </a:extLst>
          </p:cNvPr>
          <p:cNvSpPr/>
          <p:nvPr/>
        </p:nvSpPr>
        <p:spPr>
          <a:xfrm>
            <a:off x="5473700" y="3784600"/>
            <a:ext cx="2209800" cy="584200"/>
          </a:xfrm>
          <a:prstGeom prst="roundRect">
            <a:avLst/>
          </a:prstGeom>
          <a:solidFill>
            <a:srgbClr val="F8E3DC"/>
          </a:solidFill>
          <a:ln w="13970">
            <a:solidFill>
              <a:srgbClr val="D968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>
            <a:normAutofit/>
          </a:bodyPr>
          <a:lstStyle/>
          <a:p>
            <a:pPr algn="ctr"/>
            <a:r>
              <a:rPr lang="de-DE" altLang="zh-CN" sz="1050" b="1">
                <a:solidFill>
                  <a:srgbClr val="20252B"/>
                </a:solidFill>
                <a:latin typeface="Aptos" panose="020B0004020202020204" pitchFamily="34" charset="0"/>
              </a:rPr>
              <a:t>NEXT-TOKEN PROBABILITIES</a:t>
            </a:r>
            <a:endParaRPr lang="zh-CN" altLang="en-US" sz="1050" b="1">
              <a:solidFill>
                <a:srgbClr val="20252B"/>
              </a:solidFill>
              <a:latin typeface="Aptos" panose="020B0004020202020204" pitchFamily="34" charset="0"/>
            </a:endParaRPr>
          </a:p>
        </p:txBody>
      </p:sp>
      <p:cxnSp>
        <p:nvCxnSpPr>
          <p:cNvPr id="60" name="hd_llm_internal_1">
            <a:extLst>
              <a:ext uri="{FF2B5EF4-FFF2-40B4-BE49-F238E27FC236}">
                <a16:creationId xmlns:a16="http://schemas.microsoft.com/office/drawing/2014/main" id="{DF6E0717-EFBE-6CE8-D3D6-90B11332C308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>
            <a:off x="6578600" y="2794000"/>
            <a:ext cx="0" cy="190500"/>
          </a:xfrm>
          <a:prstGeom prst="line">
            <a:avLst/>
          </a:prstGeom>
          <a:ln w="16510">
            <a:solidFill>
              <a:srgbClr val="C9D5DB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hd_llm_internal_2">
            <a:extLst>
              <a:ext uri="{FF2B5EF4-FFF2-40B4-BE49-F238E27FC236}">
                <a16:creationId xmlns:a16="http://schemas.microsoft.com/office/drawing/2014/main" id="{73D68CFD-5636-FC23-D4CA-87F7E8C26B19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>
            <a:off x="6578600" y="3581400"/>
            <a:ext cx="0" cy="190500"/>
          </a:xfrm>
          <a:prstGeom prst="line">
            <a:avLst/>
          </a:prstGeom>
          <a:ln w="16510">
            <a:solidFill>
              <a:srgbClr val="C9D5DB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hd_llm_not_verifier">
            <a:extLst>
              <a:ext uri="{FF2B5EF4-FFF2-40B4-BE49-F238E27FC236}">
                <a16:creationId xmlns:a16="http://schemas.microsoft.com/office/drawing/2014/main" id="{82FB128D-F118-A492-E694-B6C7CAE66CD7}"/>
              </a:ext>
            </a:extLst>
          </p:cNvPr>
          <p:cNvSpPr txBox="1"/>
          <p:nvPr/>
        </p:nvSpPr>
        <p:spPr>
          <a:xfrm>
            <a:off x="5473700" y="4457700"/>
            <a:ext cx="2209800" cy="233910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920" b="1">
                <a:solidFill>
                  <a:srgbClr val="F4C4B9"/>
                </a:solidFill>
                <a:latin typeface="Aptos" panose="020B0004020202020204" pitchFamily="34" charset="0"/>
              </a:rPr>
              <a:t>prediction ≠ verification</a:t>
            </a:r>
            <a:endParaRPr lang="zh-CN" altLang="en-US" sz="920" b="1">
              <a:solidFill>
                <a:srgbClr val="F4C4B9"/>
              </a:solidFill>
              <a:latin typeface="Aptos" panose="020B0004020202020204" pitchFamily="34" charset="0"/>
            </a:endParaRPr>
          </a:p>
        </p:txBody>
      </p:sp>
      <p:cxnSp>
        <p:nvCxnSpPr>
          <p:cNvPr id="63" name="edge_tokens_llm_h1">
            <a:extLst>
              <a:ext uri="{FF2B5EF4-FFF2-40B4-BE49-F238E27FC236}">
                <a16:creationId xmlns:a16="http://schemas.microsoft.com/office/drawing/2014/main" id="{254A7C37-6E02-A37F-A40C-75AE24D76AFC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>
            <a:off x="4305300" y="4254500"/>
            <a:ext cx="584200" cy="0"/>
          </a:xfrm>
          <a:prstGeom prst="line">
            <a:avLst/>
          </a:prstGeom>
          <a:ln w="21590">
            <a:solidFill>
              <a:srgbClr val="4F7CAC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edge_tokens_llm_v">
            <a:extLst>
              <a:ext uri="{FF2B5EF4-FFF2-40B4-BE49-F238E27FC236}">
                <a16:creationId xmlns:a16="http://schemas.microsoft.com/office/drawing/2014/main" id="{A29F1361-D411-ACD1-AE90-60A66A13BA1D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 flipV="1">
            <a:off x="4889500" y="2501900"/>
            <a:ext cx="0" cy="1752600"/>
          </a:xfrm>
          <a:prstGeom prst="line">
            <a:avLst/>
          </a:prstGeom>
          <a:ln w="21590">
            <a:solidFill>
              <a:srgbClr val="4F7CAC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dge_tokens_llm_h2">
            <a:extLst>
              <a:ext uri="{FF2B5EF4-FFF2-40B4-BE49-F238E27FC236}">
                <a16:creationId xmlns:a16="http://schemas.microsoft.com/office/drawing/2014/main" id="{B353CFDE-8759-1EEF-9B43-068279896028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>
            <a:off x="4889500" y="2501900"/>
            <a:ext cx="215900" cy="0"/>
          </a:xfrm>
          <a:prstGeom prst="line">
            <a:avLst/>
          </a:prstGeom>
          <a:ln w="21590">
            <a:solidFill>
              <a:srgbClr val="4F7CAC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hd_proposal">
            <a:extLst>
              <a:ext uri="{FF2B5EF4-FFF2-40B4-BE49-F238E27FC236}">
                <a16:creationId xmlns:a16="http://schemas.microsoft.com/office/drawing/2014/main" id="{7F4E5437-2515-C389-7E59-4803EE4C3402}"/>
              </a:ext>
            </a:extLst>
          </p:cNvPr>
          <p:cNvSpPr/>
          <p:nvPr/>
        </p:nvSpPr>
        <p:spPr>
          <a:xfrm>
            <a:off x="8382000" y="2590800"/>
            <a:ext cx="1219200" cy="990600"/>
          </a:xfrm>
          <a:prstGeom prst="diamond">
            <a:avLst/>
          </a:prstGeom>
          <a:solidFill>
            <a:srgbClr val="FFFDF7"/>
          </a:solidFill>
          <a:ln w="22860">
            <a:solidFill>
              <a:srgbClr val="E09F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>
            <a:normAutofit fontScale="77500" lnSpcReduction="20000"/>
          </a:bodyPr>
          <a:lstStyle/>
          <a:p>
            <a:pPr algn="ctr"/>
            <a:r>
              <a:rPr lang="de-DE" altLang="zh-CN" sz="1150" b="1">
                <a:solidFill>
                  <a:srgbClr val="20252B"/>
                </a:solidFill>
                <a:latin typeface="Aptos" panose="020B0004020202020204" pitchFamily="34" charset="0"/>
              </a:rPr>
              <a:t>answer
or tool?</a:t>
            </a:r>
            <a:endParaRPr lang="zh-CN" altLang="en-US" sz="1150" b="1">
              <a:solidFill>
                <a:srgbClr val="20252B"/>
              </a:solidFill>
              <a:latin typeface="Aptos" panose="020B0004020202020204" pitchFamily="34" charset="0"/>
            </a:endParaRPr>
          </a:p>
        </p:txBody>
      </p:sp>
      <p:sp>
        <p:nvSpPr>
          <p:cNvPr id="67" name="hd_proposal_label">
            <a:extLst>
              <a:ext uri="{FF2B5EF4-FFF2-40B4-BE49-F238E27FC236}">
                <a16:creationId xmlns:a16="http://schemas.microsoft.com/office/drawing/2014/main" id="{03935BC5-586E-EAFB-1629-388104F74C75}"/>
              </a:ext>
            </a:extLst>
          </p:cNvPr>
          <p:cNvSpPr txBox="1"/>
          <p:nvPr/>
        </p:nvSpPr>
        <p:spPr>
          <a:xfrm>
            <a:off x="8343900" y="3619500"/>
            <a:ext cx="1295400" cy="227755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80">
                <a:solidFill>
                  <a:srgbClr val="687078"/>
                </a:solidFill>
                <a:latin typeface="Aptos" panose="020B0004020202020204" pitchFamily="34" charset="0"/>
              </a:rPr>
              <a:t>model proposal</a:t>
            </a:r>
            <a:endParaRPr lang="zh-CN" altLang="en-US" sz="880">
              <a:solidFill>
                <a:srgbClr val="687078"/>
              </a:solidFill>
              <a:latin typeface="Aptos" panose="020B0004020202020204" pitchFamily="34" charset="0"/>
            </a:endParaRPr>
          </a:p>
        </p:txBody>
      </p:sp>
      <p:cxnSp>
        <p:nvCxnSpPr>
          <p:cNvPr id="68" name="edge_llm_proposal">
            <a:extLst>
              <a:ext uri="{FF2B5EF4-FFF2-40B4-BE49-F238E27FC236}">
                <a16:creationId xmlns:a16="http://schemas.microsoft.com/office/drawing/2014/main" id="{33D3BE2A-20CA-4E9F-D2DC-64B095790F54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>
            <a:off x="8013700" y="3086100"/>
            <a:ext cx="330200" cy="0"/>
          </a:xfrm>
          <a:prstGeom prst="line">
            <a:avLst/>
          </a:prstGeom>
          <a:ln w="22860">
            <a:solidFill>
              <a:srgbClr val="20252B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hd_tag_answer_bg">
            <a:extLst>
              <a:ext uri="{FF2B5EF4-FFF2-40B4-BE49-F238E27FC236}">
                <a16:creationId xmlns:a16="http://schemas.microsoft.com/office/drawing/2014/main" id="{296D6A66-34F4-E6C3-BDC5-534D34BDC2B1}"/>
              </a:ext>
            </a:extLst>
          </p:cNvPr>
          <p:cNvSpPr/>
          <p:nvPr/>
        </p:nvSpPr>
        <p:spPr>
          <a:xfrm rot="54000">
            <a:off x="10134600" y="1270000"/>
            <a:ext cx="1320800" cy="317500"/>
          </a:xfrm>
          <a:prstGeom prst="roundRect">
            <a:avLst/>
          </a:prstGeom>
          <a:solidFill>
            <a:srgbClr val="F8E3DC"/>
          </a:solidFill>
          <a:ln w="19050" cap="flat" cmpd="sng" algn="ctr">
            <a:solidFill>
              <a:srgbClr val="F8E3DC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hd_tag_answer">
            <a:extLst>
              <a:ext uri="{FF2B5EF4-FFF2-40B4-BE49-F238E27FC236}">
                <a16:creationId xmlns:a16="http://schemas.microsoft.com/office/drawing/2014/main" id="{B48DC5C6-9785-7708-1991-706910FB7E6B}"/>
              </a:ext>
            </a:extLst>
          </p:cNvPr>
          <p:cNvSpPr txBox="1"/>
          <p:nvPr/>
        </p:nvSpPr>
        <p:spPr>
          <a:xfrm>
            <a:off x="10210800" y="1270000"/>
            <a:ext cx="1168400" cy="280077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1220" b="1">
                <a:solidFill>
                  <a:srgbClr val="D96855"/>
                </a:solidFill>
                <a:latin typeface="Segoe Print" panose="02000600000000000000" pitchFamily="2" charset="0"/>
              </a:rPr>
              <a:t>ANSWER</a:t>
            </a:r>
            <a:endParaRPr lang="zh-CN" altLang="en-US" sz="1220" b="1">
              <a:solidFill>
                <a:srgbClr val="D96855"/>
              </a:solidFill>
              <a:latin typeface="Segoe Print" panose="02000600000000000000" pitchFamily="2" charset="0"/>
            </a:endParaRPr>
          </a:p>
        </p:txBody>
      </p:sp>
      <p:sp>
        <p:nvSpPr>
          <p:cNvPr id="71" name="hd_answer_panel">
            <a:extLst>
              <a:ext uri="{FF2B5EF4-FFF2-40B4-BE49-F238E27FC236}">
                <a16:creationId xmlns:a16="http://schemas.microsoft.com/office/drawing/2014/main" id="{33B6E8F9-EC65-895C-F4E3-5E0514320411}"/>
              </a:ext>
            </a:extLst>
          </p:cNvPr>
          <p:cNvSpPr/>
          <p:nvPr/>
        </p:nvSpPr>
        <p:spPr>
          <a:xfrm>
            <a:off x="9906000" y="1739900"/>
            <a:ext cx="1828800" cy="2844800"/>
          </a:xfrm>
          <a:prstGeom prst="roundRect">
            <a:avLst/>
          </a:prstGeom>
          <a:solidFill>
            <a:srgbClr val="F8E3DC"/>
          </a:solidFill>
          <a:ln w="22860">
            <a:solidFill>
              <a:srgbClr val="D968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hd_answer_title">
            <a:extLst>
              <a:ext uri="{FF2B5EF4-FFF2-40B4-BE49-F238E27FC236}">
                <a16:creationId xmlns:a16="http://schemas.microsoft.com/office/drawing/2014/main" id="{BAD9390A-C177-6626-5824-78E034E553CC}"/>
              </a:ext>
            </a:extLst>
          </p:cNvPr>
          <p:cNvSpPr txBox="1"/>
          <p:nvPr/>
        </p:nvSpPr>
        <p:spPr>
          <a:xfrm>
            <a:off x="10071100" y="1917700"/>
            <a:ext cx="1498600" cy="538609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rmAutofit/>
          </a:bodyPr>
          <a:lstStyle/>
          <a:p>
            <a:pPr algn="ctr"/>
            <a:r>
              <a:rPr lang="de-DE" altLang="zh-CN" sz="1450" b="1">
                <a:solidFill>
                  <a:srgbClr val="20252B"/>
                </a:solidFill>
                <a:latin typeface="Segoe Print" panose="02000600000000000000" pitchFamily="2" charset="0"/>
              </a:rPr>
              <a:t>GROUNDED
ANSWER</a:t>
            </a:r>
            <a:endParaRPr lang="zh-CN" altLang="en-US" sz="1450" b="1">
              <a:solidFill>
                <a:srgbClr val="20252B"/>
              </a:solidFill>
              <a:latin typeface="Segoe Print" panose="02000600000000000000" pitchFamily="2" charset="0"/>
            </a:endParaRPr>
          </a:p>
        </p:txBody>
      </p:sp>
      <p:sp>
        <p:nvSpPr>
          <p:cNvPr id="73" name="hd_answer_caption">
            <a:extLst>
              <a:ext uri="{FF2B5EF4-FFF2-40B4-BE49-F238E27FC236}">
                <a16:creationId xmlns:a16="http://schemas.microsoft.com/office/drawing/2014/main" id="{51A682EA-2CE9-9BB7-0827-1BD688CF0B0B}"/>
              </a:ext>
            </a:extLst>
          </p:cNvPr>
          <p:cNvSpPr txBox="1"/>
          <p:nvPr/>
        </p:nvSpPr>
        <p:spPr>
          <a:xfrm>
            <a:off x="10083800" y="2578100"/>
            <a:ext cx="1473200" cy="375487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920" i="1">
                <a:solidFill>
                  <a:srgbClr val="687078"/>
                </a:solidFill>
                <a:latin typeface="Aptos" panose="020B0004020202020204" pitchFamily="34" charset="0"/>
              </a:rPr>
              <a:t>evidence-aware response</a:t>
            </a:r>
            <a:endParaRPr lang="zh-CN" altLang="en-US" sz="920" i="1">
              <a:solidFill>
                <a:srgbClr val="687078"/>
              </a:solidFill>
              <a:latin typeface="Aptos" panose="020B0004020202020204" pitchFamily="34" charset="0"/>
            </a:endParaRPr>
          </a:p>
        </p:txBody>
      </p:sp>
      <p:cxnSp>
        <p:nvCxnSpPr>
          <p:cNvPr id="74" name="hd_answer_line_1">
            <a:extLst>
              <a:ext uri="{FF2B5EF4-FFF2-40B4-BE49-F238E27FC236}">
                <a16:creationId xmlns:a16="http://schemas.microsoft.com/office/drawing/2014/main" id="{9FA9AD9D-C31B-3F7D-D5F8-271EBA0B29FA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>
            <a:off x="10185400" y="3009900"/>
            <a:ext cx="1270000" cy="0"/>
          </a:xfrm>
          <a:prstGeom prst="line">
            <a:avLst/>
          </a:prstGeom>
          <a:ln w="16510">
            <a:solidFill>
              <a:srgbClr val="20252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hd_answer_line_2">
            <a:extLst>
              <a:ext uri="{FF2B5EF4-FFF2-40B4-BE49-F238E27FC236}">
                <a16:creationId xmlns:a16="http://schemas.microsoft.com/office/drawing/2014/main" id="{42815622-AA8A-231F-3B5D-2FFE35618406}"/>
              </a:ext>
            </a:extLst>
          </p:cNvPr>
          <p:cNvCxnSpPr/>
          <p:nvPr>
            <p:custDataLst>
              <p:tags r:id="rId25"/>
            </p:custDataLst>
          </p:nvPr>
        </p:nvCxnSpPr>
        <p:spPr>
          <a:xfrm>
            <a:off x="10185400" y="3213100"/>
            <a:ext cx="1130300" cy="0"/>
          </a:xfrm>
          <a:prstGeom prst="line">
            <a:avLst/>
          </a:prstGeom>
          <a:ln w="16510">
            <a:solidFill>
              <a:srgbClr val="20252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hd_answer_line_3">
            <a:extLst>
              <a:ext uri="{FF2B5EF4-FFF2-40B4-BE49-F238E27FC236}">
                <a16:creationId xmlns:a16="http://schemas.microsoft.com/office/drawing/2014/main" id="{1059F7C2-8B33-BFA4-DA90-B5D4312C09CD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>
            <a:off x="10185400" y="3416300"/>
            <a:ext cx="1219200" cy="0"/>
          </a:xfrm>
          <a:prstGeom prst="line">
            <a:avLst/>
          </a:prstGeom>
          <a:ln w="16510">
            <a:solidFill>
              <a:srgbClr val="20252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hd_citations_label">
            <a:extLst>
              <a:ext uri="{FF2B5EF4-FFF2-40B4-BE49-F238E27FC236}">
                <a16:creationId xmlns:a16="http://schemas.microsoft.com/office/drawing/2014/main" id="{CEFAF232-DE59-12F3-B884-7C4884EE3CC9}"/>
              </a:ext>
            </a:extLst>
          </p:cNvPr>
          <p:cNvSpPr txBox="1"/>
          <p:nvPr/>
        </p:nvSpPr>
        <p:spPr>
          <a:xfrm>
            <a:off x="10096500" y="3619500"/>
            <a:ext cx="1447800" cy="227755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80">
                <a:solidFill>
                  <a:srgbClr val="687078"/>
                </a:solidFill>
                <a:latin typeface="Aptos" panose="020B0004020202020204" pitchFamily="34" charset="0"/>
              </a:rPr>
              <a:t>source IDs retained</a:t>
            </a:r>
            <a:endParaRPr lang="zh-CN" altLang="en-US" sz="880">
              <a:solidFill>
                <a:srgbClr val="687078"/>
              </a:solidFill>
              <a:latin typeface="Aptos" panose="020B0004020202020204" pitchFamily="34" charset="0"/>
            </a:endParaRPr>
          </a:p>
        </p:txBody>
      </p:sp>
      <p:sp>
        <p:nvSpPr>
          <p:cNvPr id="78" name="hd_citation_1">
            <a:extLst>
              <a:ext uri="{FF2B5EF4-FFF2-40B4-BE49-F238E27FC236}">
                <a16:creationId xmlns:a16="http://schemas.microsoft.com/office/drawing/2014/main" id="{A081DFFB-F21D-0A44-A4B7-963F7A9B600B}"/>
              </a:ext>
            </a:extLst>
          </p:cNvPr>
          <p:cNvSpPr/>
          <p:nvPr/>
        </p:nvSpPr>
        <p:spPr>
          <a:xfrm>
            <a:off x="10223500" y="3937000"/>
            <a:ext cx="317500" cy="266700"/>
          </a:xfrm>
          <a:prstGeom prst="roundRect">
            <a:avLst/>
          </a:prstGeom>
          <a:solidFill>
            <a:srgbClr val="D96855"/>
          </a:solidFill>
          <a:ln w="1016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>
            <a:noAutofit/>
          </a:bodyPr>
          <a:lstStyle/>
          <a:p>
            <a:pPr algn="ctr"/>
            <a:r>
              <a:rPr lang="de-DE" altLang="zh-CN" sz="900" b="1">
                <a:solidFill>
                  <a:srgbClr val="FFFDF7"/>
                </a:solidFill>
                <a:latin typeface="Aptos" panose="020B0004020202020204" pitchFamily="34" charset="0"/>
              </a:rPr>
              <a:t>S1</a:t>
            </a:r>
            <a:endParaRPr lang="zh-CN" altLang="en-US" sz="900" b="1">
              <a:solidFill>
                <a:srgbClr val="FFFDF7"/>
              </a:solidFill>
              <a:latin typeface="Aptos" panose="020B0004020202020204" pitchFamily="34" charset="0"/>
            </a:endParaRPr>
          </a:p>
        </p:txBody>
      </p:sp>
      <p:sp>
        <p:nvSpPr>
          <p:cNvPr id="79" name="hd_citation_2">
            <a:extLst>
              <a:ext uri="{FF2B5EF4-FFF2-40B4-BE49-F238E27FC236}">
                <a16:creationId xmlns:a16="http://schemas.microsoft.com/office/drawing/2014/main" id="{20B595FA-B8C9-28EA-35C3-97D5F70B917F}"/>
              </a:ext>
            </a:extLst>
          </p:cNvPr>
          <p:cNvSpPr/>
          <p:nvPr/>
        </p:nvSpPr>
        <p:spPr>
          <a:xfrm>
            <a:off x="10642600" y="3937000"/>
            <a:ext cx="317500" cy="266700"/>
          </a:xfrm>
          <a:prstGeom prst="roundRect">
            <a:avLst/>
          </a:prstGeom>
          <a:solidFill>
            <a:srgbClr val="4F7CAC"/>
          </a:solidFill>
          <a:ln w="1016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>
            <a:noAutofit/>
          </a:bodyPr>
          <a:lstStyle/>
          <a:p>
            <a:pPr algn="ctr"/>
            <a:r>
              <a:rPr lang="de-DE" altLang="zh-CN" sz="900" b="1">
                <a:solidFill>
                  <a:srgbClr val="FFFDF7"/>
                </a:solidFill>
                <a:latin typeface="Aptos" panose="020B0004020202020204" pitchFamily="34" charset="0"/>
              </a:rPr>
              <a:t>S2</a:t>
            </a:r>
            <a:endParaRPr lang="zh-CN" altLang="en-US" sz="900" b="1">
              <a:solidFill>
                <a:srgbClr val="FFFDF7"/>
              </a:solidFill>
              <a:latin typeface="Aptos" panose="020B0004020202020204" pitchFamily="34" charset="0"/>
            </a:endParaRPr>
          </a:p>
        </p:txBody>
      </p:sp>
      <p:sp>
        <p:nvSpPr>
          <p:cNvPr id="80" name="hd_citation_3">
            <a:extLst>
              <a:ext uri="{FF2B5EF4-FFF2-40B4-BE49-F238E27FC236}">
                <a16:creationId xmlns:a16="http://schemas.microsoft.com/office/drawing/2014/main" id="{467A6C64-2B88-83D8-95A6-C783649108E8}"/>
              </a:ext>
            </a:extLst>
          </p:cNvPr>
          <p:cNvSpPr/>
          <p:nvPr/>
        </p:nvSpPr>
        <p:spPr>
          <a:xfrm>
            <a:off x="11061700" y="3937000"/>
            <a:ext cx="317500" cy="266700"/>
          </a:xfrm>
          <a:prstGeom prst="roundRect">
            <a:avLst/>
          </a:prstGeom>
          <a:solidFill>
            <a:srgbClr val="E09F3E"/>
          </a:solidFill>
          <a:ln w="1016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rtlCol="0" anchor="ctr">
            <a:noAutofit/>
          </a:bodyPr>
          <a:lstStyle/>
          <a:p>
            <a:pPr algn="ctr"/>
            <a:r>
              <a:rPr lang="de-DE" altLang="zh-CN" sz="900" b="1">
                <a:solidFill>
                  <a:srgbClr val="FFFDF7"/>
                </a:solidFill>
                <a:latin typeface="Aptos" panose="020B0004020202020204" pitchFamily="34" charset="0"/>
              </a:rPr>
              <a:t>S3</a:t>
            </a:r>
            <a:endParaRPr lang="zh-CN" altLang="en-US" sz="900" b="1">
              <a:solidFill>
                <a:srgbClr val="FFFDF7"/>
              </a:solidFill>
              <a:latin typeface="Aptos" panose="020B0004020202020204" pitchFamily="34" charset="0"/>
            </a:endParaRPr>
          </a:p>
        </p:txBody>
      </p:sp>
      <p:sp>
        <p:nvSpPr>
          <p:cNvPr id="81" name="hd_source_id_1">
            <a:extLst>
              <a:ext uri="{FF2B5EF4-FFF2-40B4-BE49-F238E27FC236}">
                <a16:creationId xmlns:a16="http://schemas.microsoft.com/office/drawing/2014/main" id="{2F518CF7-B1E6-E060-568A-1272A79EAC9E}"/>
              </a:ext>
            </a:extLst>
          </p:cNvPr>
          <p:cNvSpPr/>
          <p:nvPr/>
        </p:nvSpPr>
        <p:spPr>
          <a:xfrm>
            <a:off x="965200" y="4203700"/>
            <a:ext cx="190500" cy="165100"/>
          </a:xfrm>
          <a:prstGeom prst="roundRect">
            <a:avLst/>
          </a:prstGeom>
          <a:solidFill>
            <a:srgbClr val="D96855"/>
          </a:solidFill>
          <a:ln w="635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680" b="1">
                <a:solidFill>
                  <a:srgbClr val="FFFDF7"/>
                </a:solidFill>
                <a:latin typeface="Aptos" panose="020B0004020202020204" pitchFamily="34" charset="0"/>
              </a:rPr>
              <a:t>1</a:t>
            </a:r>
            <a:endParaRPr lang="zh-CN" altLang="en-US" sz="680" b="1">
              <a:solidFill>
                <a:srgbClr val="FFFDF7"/>
              </a:solidFill>
              <a:latin typeface="Aptos" panose="020B0004020202020204" pitchFamily="34" charset="0"/>
            </a:endParaRPr>
          </a:p>
        </p:txBody>
      </p:sp>
      <p:sp>
        <p:nvSpPr>
          <p:cNvPr id="82" name="hd_source_id_2">
            <a:extLst>
              <a:ext uri="{FF2B5EF4-FFF2-40B4-BE49-F238E27FC236}">
                <a16:creationId xmlns:a16="http://schemas.microsoft.com/office/drawing/2014/main" id="{9B951E1C-CC18-3E5B-94A1-B752F8DEF37E}"/>
              </a:ext>
            </a:extLst>
          </p:cNvPr>
          <p:cNvSpPr/>
          <p:nvPr/>
        </p:nvSpPr>
        <p:spPr>
          <a:xfrm>
            <a:off x="1193800" y="4203700"/>
            <a:ext cx="190500" cy="165100"/>
          </a:xfrm>
          <a:prstGeom prst="roundRect">
            <a:avLst/>
          </a:prstGeom>
          <a:solidFill>
            <a:srgbClr val="4F7CAC"/>
          </a:solidFill>
          <a:ln w="635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680" b="1">
                <a:solidFill>
                  <a:srgbClr val="FFFDF7"/>
                </a:solidFill>
                <a:latin typeface="Aptos" panose="020B0004020202020204" pitchFamily="34" charset="0"/>
              </a:rPr>
              <a:t>2</a:t>
            </a:r>
            <a:endParaRPr lang="zh-CN" altLang="en-US" sz="680" b="1">
              <a:solidFill>
                <a:srgbClr val="FFFDF7"/>
              </a:solidFill>
              <a:latin typeface="Aptos" panose="020B0004020202020204" pitchFamily="34" charset="0"/>
            </a:endParaRPr>
          </a:p>
        </p:txBody>
      </p:sp>
      <p:sp>
        <p:nvSpPr>
          <p:cNvPr id="83" name="hd_source_id_3">
            <a:extLst>
              <a:ext uri="{FF2B5EF4-FFF2-40B4-BE49-F238E27FC236}">
                <a16:creationId xmlns:a16="http://schemas.microsoft.com/office/drawing/2014/main" id="{4819FF10-DCB1-A977-1C12-136B34C4DEE0}"/>
              </a:ext>
            </a:extLst>
          </p:cNvPr>
          <p:cNvSpPr/>
          <p:nvPr/>
        </p:nvSpPr>
        <p:spPr>
          <a:xfrm>
            <a:off x="1422400" y="4203700"/>
            <a:ext cx="190500" cy="165100"/>
          </a:xfrm>
          <a:prstGeom prst="roundRect">
            <a:avLst/>
          </a:prstGeom>
          <a:solidFill>
            <a:srgbClr val="E09F3E"/>
          </a:solidFill>
          <a:ln w="6350">
            <a:solidFill>
              <a:srgbClr val="2025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sz="680" b="1">
                <a:solidFill>
                  <a:srgbClr val="FFFDF7"/>
                </a:solidFill>
                <a:latin typeface="Aptos" panose="020B0004020202020204" pitchFamily="34" charset="0"/>
              </a:rPr>
              <a:t>3</a:t>
            </a:r>
            <a:endParaRPr lang="zh-CN" altLang="en-US" sz="680" b="1">
              <a:solidFill>
                <a:srgbClr val="FFFDF7"/>
              </a:solidFill>
              <a:latin typeface="Aptos" panose="020B0004020202020204" pitchFamily="34" charset="0"/>
            </a:endParaRPr>
          </a:p>
        </p:txBody>
      </p:sp>
      <p:cxnSp>
        <p:nvCxnSpPr>
          <p:cNvPr id="84" name="hd_answer_underline_1">
            <a:extLst>
              <a:ext uri="{FF2B5EF4-FFF2-40B4-BE49-F238E27FC236}">
                <a16:creationId xmlns:a16="http://schemas.microsoft.com/office/drawing/2014/main" id="{39B472A1-1500-3100-9E3A-3B2EB6A3D78E}"/>
              </a:ext>
            </a:extLst>
          </p:cNvPr>
          <p:cNvCxnSpPr/>
          <p:nvPr>
            <p:custDataLst>
              <p:tags r:id="rId27"/>
            </p:custDataLst>
          </p:nvPr>
        </p:nvCxnSpPr>
        <p:spPr>
          <a:xfrm flipV="1">
            <a:off x="10248900" y="4305300"/>
            <a:ext cx="1143000" cy="38100"/>
          </a:xfrm>
          <a:prstGeom prst="line">
            <a:avLst/>
          </a:prstGeom>
          <a:ln w="26670" cap="flat" cmpd="sng" algn="ctr">
            <a:solidFill>
              <a:srgbClr val="D96855">
                <a:alpha val="9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hd_answer_underline_2">
            <a:extLst>
              <a:ext uri="{FF2B5EF4-FFF2-40B4-BE49-F238E27FC236}">
                <a16:creationId xmlns:a16="http://schemas.microsoft.com/office/drawing/2014/main" id="{CBC814DE-9E31-C7F2-1CBC-0EB37B3D6720}"/>
              </a:ext>
            </a:extLst>
          </p:cNvPr>
          <p:cNvCxnSpPr/>
          <p:nvPr>
            <p:custDataLst>
              <p:tags r:id="rId28"/>
            </p:custDataLst>
          </p:nvPr>
        </p:nvCxnSpPr>
        <p:spPr>
          <a:xfrm flipV="1">
            <a:off x="10388600" y="4394200"/>
            <a:ext cx="889000" cy="25400"/>
          </a:xfrm>
          <a:prstGeom prst="line">
            <a:avLst/>
          </a:prstGeom>
          <a:ln w="15240" cap="flat" cmpd="sng" algn="ctr">
            <a:solidFill>
              <a:srgbClr val="E09F3E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edge_proposal_answer">
            <a:extLst>
              <a:ext uri="{FF2B5EF4-FFF2-40B4-BE49-F238E27FC236}">
                <a16:creationId xmlns:a16="http://schemas.microsoft.com/office/drawing/2014/main" id="{CCDC6B01-94DD-441D-6BF5-F8DE8CA656B4}"/>
              </a:ext>
            </a:extLst>
          </p:cNvPr>
          <p:cNvCxnSpPr/>
          <p:nvPr>
            <p:custDataLst>
              <p:tags r:id="rId29"/>
            </p:custDataLst>
          </p:nvPr>
        </p:nvCxnSpPr>
        <p:spPr>
          <a:xfrm>
            <a:off x="9601200" y="3086100"/>
            <a:ext cx="266700" cy="0"/>
          </a:xfrm>
          <a:prstGeom prst="line">
            <a:avLst/>
          </a:prstGeom>
          <a:ln w="22860">
            <a:solidFill>
              <a:srgbClr val="20252B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hd_tag_act_bg">
            <a:extLst>
              <a:ext uri="{FF2B5EF4-FFF2-40B4-BE49-F238E27FC236}">
                <a16:creationId xmlns:a16="http://schemas.microsoft.com/office/drawing/2014/main" id="{C6C55068-29F4-C039-0C7A-6C839A00A8B8}"/>
              </a:ext>
            </a:extLst>
          </p:cNvPr>
          <p:cNvSpPr/>
          <p:nvPr/>
        </p:nvSpPr>
        <p:spPr>
          <a:xfrm rot="-42000">
            <a:off x="6997700" y="4953000"/>
            <a:ext cx="1016000" cy="317500"/>
          </a:xfrm>
          <a:prstGeom prst="roundRect">
            <a:avLst/>
          </a:prstGeom>
          <a:solidFill>
            <a:srgbClr val="F8EDD2"/>
          </a:solidFill>
          <a:ln w="19050" cap="flat" cmpd="sng" algn="ctr">
            <a:solidFill>
              <a:srgbClr val="F8EDD2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hd_tag_act">
            <a:extLst>
              <a:ext uri="{FF2B5EF4-FFF2-40B4-BE49-F238E27FC236}">
                <a16:creationId xmlns:a16="http://schemas.microsoft.com/office/drawing/2014/main" id="{FCE618D6-DB4A-4E0C-F338-17AADEF51ED4}"/>
              </a:ext>
            </a:extLst>
          </p:cNvPr>
          <p:cNvSpPr txBox="1"/>
          <p:nvPr/>
        </p:nvSpPr>
        <p:spPr>
          <a:xfrm>
            <a:off x="7086600" y="4953000"/>
            <a:ext cx="838200" cy="284693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1250" b="1">
                <a:solidFill>
                  <a:srgbClr val="B56F13"/>
                </a:solidFill>
                <a:latin typeface="Segoe Print" panose="02000600000000000000" pitchFamily="2" charset="0"/>
              </a:rPr>
              <a:t>ACT</a:t>
            </a:r>
            <a:endParaRPr lang="zh-CN" altLang="en-US" sz="1250" b="1">
              <a:solidFill>
                <a:srgbClr val="B56F13"/>
              </a:solidFill>
              <a:latin typeface="Segoe Print" panose="02000600000000000000" pitchFamily="2" charset="0"/>
            </a:endParaRPr>
          </a:p>
        </p:txBody>
      </p:sp>
      <p:sp>
        <p:nvSpPr>
          <p:cNvPr id="89" name="hd_tool_loop_caption">
            <a:extLst>
              <a:ext uri="{FF2B5EF4-FFF2-40B4-BE49-F238E27FC236}">
                <a16:creationId xmlns:a16="http://schemas.microsoft.com/office/drawing/2014/main" id="{7090E40E-C2C4-9557-DF76-88D975EACD2D}"/>
              </a:ext>
            </a:extLst>
          </p:cNvPr>
          <p:cNvSpPr txBox="1"/>
          <p:nvPr/>
        </p:nvSpPr>
        <p:spPr>
          <a:xfrm>
            <a:off x="5257800" y="5041900"/>
            <a:ext cx="1612900" cy="233910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920" i="1">
                <a:solidFill>
                  <a:srgbClr val="687078"/>
                </a:solidFill>
                <a:latin typeface="Aptos" panose="020B0004020202020204" pitchFamily="34" charset="0"/>
              </a:rPr>
              <a:t>optional tool-use loop</a:t>
            </a:r>
            <a:endParaRPr lang="zh-CN" altLang="en-US" sz="920" i="1">
              <a:solidFill>
                <a:srgbClr val="687078"/>
              </a:solidFill>
              <a:latin typeface="Aptos" panose="020B0004020202020204" pitchFamily="34" charset="0"/>
            </a:endParaRPr>
          </a:p>
        </p:txBody>
      </p:sp>
      <p:sp>
        <p:nvSpPr>
          <p:cNvPr id="90" name="hd_controller">
            <a:extLst>
              <a:ext uri="{FF2B5EF4-FFF2-40B4-BE49-F238E27FC236}">
                <a16:creationId xmlns:a16="http://schemas.microsoft.com/office/drawing/2014/main" id="{24F01A5B-793D-FA09-F6BC-C7D8BFC2320D}"/>
              </a:ext>
            </a:extLst>
          </p:cNvPr>
          <p:cNvSpPr/>
          <p:nvPr/>
        </p:nvSpPr>
        <p:spPr>
          <a:xfrm>
            <a:off x="5257800" y="5461000"/>
            <a:ext cx="1549400" cy="685800"/>
          </a:xfrm>
          <a:prstGeom prst="roundRect">
            <a:avLst/>
          </a:prstGeom>
          <a:solidFill>
            <a:srgbClr val="F8EDD2"/>
          </a:solidFill>
          <a:ln w="20320">
            <a:solidFill>
              <a:srgbClr val="E09F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>
            <a:normAutofit/>
          </a:bodyPr>
          <a:lstStyle/>
          <a:p>
            <a:pPr algn="ctr"/>
            <a:r>
              <a:rPr lang="de-DE" altLang="zh-CN" sz="950" b="1">
                <a:solidFill>
                  <a:srgbClr val="20252B"/>
                </a:solidFill>
                <a:latin typeface="Aptos" panose="020B0004020202020204" pitchFamily="34" charset="0"/>
              </a:rPr>
              <a:t>AGENT CONTROLLER
validate + execute</a:t>
            </a:r>
            <a:endParaRPr lang="zh-CN" altLang="en-US" sz="950" b="1">
              <a:solidFill>
                <a:srgbClr val="20252B"/>
              </a:solidFill>
              <a:latin typeface="Aptos" panose="020B0004020202020204" pitchFamily="34" charset="0"/>
            </a:endParaRPr>
          </a:p>
        </p:txBody>
      </p:sp>
      <p:sp>
        <p:nvSpPr>
          <p:cNvPr id="91" name="hd_tool">
            <a:extLst>
              <a:ext uri="{FF2B5EF4-FFF2-40B4-BE49-F238E27FC236}">
                <a16:creationId xmlns:a16="http://schemas.microsoft.com/office/drawing/2014/main" id="{B6981374-B1E1-5C1B-3CF9-83BE617D5AED}"/>
              </a:ext>
            </a:extLst>
          </p:cNvPr>
          <p:cNvSpPr/>
          <p:nvPr/>
        </p:nvSpPr>
        <p:spPr>
          <a:xfrm>
            <a:off x="7213600" y="5461000"/>
            <a:ext cx="1219200" cy="685800"/>
          </a:xfrm>
          <a:prstGeom prst="roundRect">
            <a:avLst/>
          </a:prstGeom>
          <a:solidFill>
            <a:srgbClr val="E5EEF6"/>
          </a:solidFill>
          <a:ln w="20320">
            <a:solidFill>
              <a:srgbClr val="4F7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>
            <a:normAutofit/>
          </a:bodyPr>
          <a:lstStyle/>
          <a:p>
            <a:pPr algn="ctr"/>
            <a:r>
              <a:rPr lang="en-US" altLang="zh-CN" sz="950" b="1">
                <a:solidFill>
                  <a:srgbClr val="20252B"/>
                </a:solidFill>
                <a:latin typeface="Aptos" panose="020B0004020202020204" pitchFamily="34" charset="0"/>
              </a:rPr>
              <a:t>EXTERNAL TOOL
search • API • calc</a:t>
            </a:r>
            <a:endParaRPr lang="zh-CN" altLang="en-US" sz="950" b="1">
              <a:solidFill>
                <a:srgbClr val="20252B"/>
              </a:solidFill>
              <a:latin typeface="Aptos" panose="020B0004020202020204" pitchFamily="34" charset="0"/>
            </a:endParaRPr>
          </a:p>
        </p:txBody>
      </p:sp>
      <p:sp>
        <p:nvSpPr>
          <p:cNvPr id="92" name="hd_observation">
            <a:extLst>
              <a:ext uri="{FF2B5EF4-FFF2-40B4-BE49-F238E27FC236}">
                <a16:creationId xmlns:a16="http://schemas.microsoft.com/office/drawing/2014/main" id="{447BDF2B-1E8E-4E82-B314-782B5F68AA2E}"/>
              </a:ext>
            </a:extLst>
          </p:cNvPr>
          <p:cNvSpPr/>
          <p:nvPr/>
        </p:nvSpPr>
        <p:spPr>
          <a:xfrm>
            <a:off x="8839200" y="5461000"/>
            <a:ext cx="1117600" cy="685800"/>
          </a:xfrm>
          <a:prstGeom prst="roundRect">
            <a:avLst/>
          </a:prstGeom>
          <a:solidFill>
            <a:srgbClr val="F8E3DC"/>
          </a:solidFill>
          <a:ln w="20320">
            <a:solidFill>
              <a:srgbClr val="D968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50800" rIns="63500" bIns="50800" rtlCol="0" anchor="ctr">
            <a:normAutofit/>
          </a:bodyPr>
          <a:lstStyle/>
          <a:p>
            <a:pPr algn="ctr"/>
            <a:r>
              <a:rPr lang="de-DE" altLang="zh-CN" sz="950" b="1">
                <a:solidFill>
                  <a:srgbClr val="20252B"/>
                </a:solidFill>
                <a:latin typeface="Aptos" panose="020B0004020202020204" pitchFamily="34" charset="0"/>
              </a:rPr>
              <a:t>OBSERVATION
result</a:t>
            </a:r>
            <a:endParaRPr lang="zh-CN" altLang="en-US" sz="950" b="1">
              <a:solidFill>
                <a:srgbClr val="20252B"/>
              </a:solidFill>
              <a:latin typeface="Aptos" panose="020B0004020202020204" pitchFamily="34" charset="0"/>
            </a:endParaRPr>
          </a:p>
        </p:txBody>
      </p:sp>
      <p:cxnSp>
        <p:nvCxnSpPr>
          <p:cNvPr id="93" name="edge_proposal_controller_v1">
            <a:extLst>
              <a:ext uri="{FF2B5EF4-FFF2-40B4-BE49-F238E27FC236}">
                <a16:creationId xmlns:a16="http://schemas.microsoft.com/office/drawing/2014/main" id="{A2719060-B4F2-A65D-3D06-8518446CC4CC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8991600" y="3581400"/>
            <a:ext cx="0" cy="1752600"/>
          </a:xfrm>
          <a:prstGeom prst="line">
            <a:avLst/>
          </a:prstGeom>
          <a:ln w="20320">
            <a:solidFill>
              <a:srgbClr val="E09F3E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edge_proposal_controller_h">
            <a:extLst>
              <a:ext uri="{FF2B5EF4-FFF2-40B4-BE49-F238E27FC236}">
                <a16:creationId xmlns:a16="http://schemas.microsoft.com/office/drawing/2014/main" id="{0C40D01C-2150-DE91-2173-F4293F9ADE18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 flipH="1">
            <a:off x="6032500" y="5334000"/>
            <a:ext cx="2959100" cy="0"/>
          </a:xfrm>
          <a:prstGeom prst="line">
            <a:avLst/>
          </a:prstGeom>
          <a:ln w="20320">
            <a:solidFill>
              <a:srgbClr val="E09F3E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edge_proposal_controller_v2">
            <a:extLst>
              <a:ext uri="{FF2B5EF4-FFF2-40B4-BE49-F238E27FC236}">
                <a16:creationId xmlns:a16="http://schemas.microsoft.com/office/drawing/2014/main" id="{7D8E3637-A9D5-D07C-AE5D-E8101CDE815A}"/>
              </a:ext>
            </a:extLst>
          </p:cNvPr>
          <p:cNvCxnSpPr/>
          <p:nvPr>
            <p:custDataLst>
              <p:tags r:id="rId32"/>
            </p:custDataLst>
          </p:nvPr>
        </p:nvCxnSpPr>
        <p:spPr>
          <a:xfrm>
            <a:off x="6032500" y="5334000"/>
            <a:ext cx="0" cy="95250"/>
          </a:xfrm>
          <a:prstGeom prst="line">
            <a:avLst/>
          </a:prstGeom>
          <a:ln w="20320">
            <a:solidFill>
              <a:srgbClr val="E09F3E"/>
            </a:solidFill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edge_controller_tool">
            <a:extLst>
              <a:ext uri="{FF2B5EF4-FFF2-40B4-BE49-F238E27FC236}">
                <a16:creationId xmlns:a16="http://schemas.microsoft.com/office/drawing/2014/main" id="{4D6D8E6C-4102-7E6E-9787-CD481A2B8D1E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6807200" y="5803900"/>
            <a:ext cx="368300" cy="0"/>
          </a:xfrm>
          <a:prstGeom prst="line">
            <a:avLst/>
          </a:prstGeom>
          <a:ln w="20320">
            <a:solidFill>
              <a:srgbClr val="20252B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edge_tool_observation">
            <a:extLst>
              <a:ext uri="{FF2B5EF4-FFF2-40B4-BE49-F238E27FC236}">
                <a16:creationId xmlns:a16="http://schemas.microsoft.com/office/drawing/2014/main" id="{A06B9281-10BA-3AAB-DE20-63DF8FF2BFB5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8432800" y="5803900"/>
            <a:ext cx="368300" cy="0"/>
          </a:xfrm>
          <a:prstGeom prst="line">
            <a:avLst/>
          </a:prstGeom>
          <a:ln w="20320">
            <a:solidFill>
              <a:srgbClr val="20252B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hd_return_label">
            <a:extLst>
              <a:ext uri="{FF2B5EF4-FFF2-40B4-BE49-F238E27FC236}">
                <a16:creationId xmlns:a16="http://schemas.microsoft.com/office/drawing/2014/main" id="{74FFB202-9FE9-4B4B-B9A0-78DA1B3FB6C5}"/>
              </a:ext>
            </a:extLst>
          </p:cNvPr>
          <p:cNvSpPr txBox="1"/>
          <p:nvPr/>
        </p:nvSpPr>
        <p:spPr>
          <a:xfrm>
            <a:off x="4292600" y="6197600"/>
            <a:ext cx="4419600" cy="232371"/>
          </a:xfrm>
          <a:prstGeom prst="rect">
            <a:avLst/>
          </a:prstGeom>
          <a:solidFill>
            <a:scrgbClr r="0" g="0" b="0">
              <a:alpha val="0"/>
            </a:scrgbClr>
          </a:solidFill>
          <a:ln w="9525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910">
                <a:solidFill>
                  <a:srgbClr val="687078"/>
                </a:solidFill>
                <a:latin typeface="Aptos" panose="020B0004020202020204" pitchFamily="34" charset="0"/>
              </a:rPr>
              <a:t>observation re-enters context • model weights stay frozen</a:t>
            </a:r>
            <a:endParaRPr lang="zh-CN" altLang="en-US" sz="910">
              <a:solidFill>
                <a:srgbClr val="687078"/>
              </a:solidFill>
              <a:latin typeface="Aptos" panose="020B0004020202020204" pitchFamily="34" charset="0"/>
            </a:endParaRPr>
          </a:p>
        </p:txBody>
      </p:sp>
      <p:cxnSp>
        <p:nvCxnSpPr>
          <p:cNvPr id="99" name="edge_observation_context_v1">
            <a:extLst>
              <a:ext uri="{FF2B5EF4-FFF2-40B4-BE49-F238E27FC236}">
                <a16:creationId xmlns:a16="http://schemas.microsoft.com/office/drawing/2014/main" id="{7B6DBC03-FEF5-D344-02B3-C8F9BAC654F1}"/>
              </a:ext>
            </a:extLst>
          </p:cNvPr>
          <p:cNvCxnSpPr/>
          <p:nvPr>
            <p:custDataLst>
              <p:tags r:id="rId35"/>
            </p:custDataLst>
          </p:nvPr>
        </p:nvCxnSpPr>
        <p:spPr>
          <a:xfrm>
            <a:off x="9398000" y="6146800"/>
            <a:ext cx="0" cy="355600"/>
          </a:xfrm>
          <a:prstGeom prst="line">
            <a:avLst/>
          </a:prstGeom>
          <a:ln w="19050">
            <a:solidFill>
              <a:srgbClr val="D96855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edge_observation_context_h">
            <a:extLst>
              <a:ext uri="{FF2B5EF4-FFF2-40B4-BE49-F238E27FC236}">
                <a16:creationId xmlns:a16="http://schemas.microsoft.com/office/drawing/2014/main" id="{F1EF81FC-BFF9-2F6C-66DD-153F2F8606D9}"/>
              </a:ext>
            </a:extLst>
          </p:cNvPr>
          <p:cNvCxnSpPr/>
          <p:nvPr>
            <p:custDataLst>
              <p:tags r:id="rId36"/>
            </p:custDataLst>
          </p:nvPr>
        </p:nvCxnSpPr>
        <p:spPr>
          <a:xfrm flipH="1">
            <a:off x="3568700" y="6502400"/>
            <a:ext cx="5829300" cy="0"/>
          </a:xfrm>
          <a:prstGeom prst="line">
            <a:avLst/>
          </a:prstGeom>
          <a:ln w="19050">
            <a:solidFill>
              <a:srgbClr val="D96855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edge_observation_context_v2">
            <a:extLst>
              <a:ext uri="{FF2B5EF4-FFF2-40B4-BE49-F238E27FC236}">
                <a16:creationId xmlns:a16="http://schemas.microsoft.com/office/drawing/2014/main" id="{A72240A0-0760-050E-5D1F-86D55F5FB641}"/>
              </a:ext>
            </a:extLst>
          </p:cNvPr>
          <p:cNvCxnSpPr/>
          <p:nvPr>
            <p:custDataLst>
              <p:tags r:id="rId37"/>
            </p:custDataLst>
          </p:nvPr>
        </p:nvCxnSpPr>
        <p:spPr>
          <a:xfrm flipV="1">
            <a:off x="3568700" y="4660900"/>
            <a:ext cx="0" cy="1841500"/>
          </a:xfrm>
          <a:prstGeom prst="line">
            <a:avLst/>
          </a:prstGeom>
          <a:ln w="19050">
            <a:solidFill>
              <a:srgbClr val="D96855"/>
            </a:solidFill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6468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3.5"/>
  <p:tag name="SCIENTIFICILLUSTRATORBEGINY" val="166"/>
  <p:tag name="SCIENTIFICILLUSTRATORENDX" val="73.5"/>
  <p:tag name="SCIENTIFICILLUSTRATORENDY" val="202"/>
  <p:tag name="SCIENTIFICILLUSTRATORSTARTCLEARANCE" val="0"/>
  <p:tag name="SCIENTIFICILLUSTRATORENDCLEARANC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3.5"/>
  <p:tag name="SCIENTIFICILLUSTRATORBEGINY" val="176"/>
  <p:tag name="SCIENTIFICILLUSTRATORENDX" val="52"/>
  <p:tag name="SCIENTIFICILLUSTRATORENDY" val="189"/>
  <p:tag name="SCIENTIFICILLUSTRATORSTARTCLEARANCE" val="0"/>
  <p:tag name="SCIENTIFICILLUSTRATORENDCLEARANC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3.5"/>
  <p:tag name="SCIENTIFICILLUSTRATORBEGINY" val="176"/>
  <p:tag name="SCIENTIFICILLUSTRATORENDX" val="94"/>
  <p:tag name="SCIENTIFICILLUSTRATORENDY" val="187"/>
  <p:tag name="SCIENTIFICILLUSTRATORSTARTCLEARANCE" val="0"/>
  <p:tag name="SCIENTIFICILLUSTRATORENDCLEARANCE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3.5"/>
  <p:tag name="SCIENTIFICILLUSTRATORBEGINY" val="202"/>
  <p:tag name="SCIENTIFICILLUSTRATORENDX" val="57"/>
  <p:tag name="SCIENTIFICILLUSTRATORENDY" val="220"/>
  <p:tag name="SCIENTIFICILLUSTRATORSTARTCLEARANCE" val="0"/>
  <p:tag name="SCIENTIFICILLUSTRATORENDCLEARANC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3.5"/>
  <p:tag name="SCIENTIFICILLUSTRATORBEGINY" val="202"/>
  <p:tag name="SCIENTIFICILLUSTRATORENDX" val="89"/>
  <p:tag name="SCIENTIFICILLUSTRATORENDY" val="220"/>
  <p:tag name="SCIENTIFICILLUSTRATORSTARTCLEARANCE" val="0"/>
  <p:tag name="SCIENTIFICILLUSTRATORENDCLEARANCE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100"/>
  <p:tag name="SCIENTIFICILLUSTRATORBEGINY" val="174"/>
  <p:tag name="SCIENTIFICILLUSTRATORENDX" val="89"/>
  <p:tag name="SCIENTIFICILLUSTRATORENDY" val="180"/>
  <p:tag name="SCIENTIFICILLUSTRATORSTARTCLEARANCE" val="0"/>
  <p:tag name="SCIENTIFICILLUSTRATORENDCLEARANCE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89"/>
  <p:tag name="SCIENTIFICILLUSTRATORBEGINY" val="180"/>
  <p:tag name="SCIENTIFICILLUSTRATORENDX" val="97"/>
  <p:tag name="SCIENTIFICILLUSTRATORENDY" val="184"/>
  <p:tag name="SCIENTIFICILLUSTRATORSTARTCLEARANCE" val="0"/>
  <p:tag name="SCIENTIFICILLUSTRATORENDCLEARANCE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7"/>
  <p:tag name="SCIENTIFICILLUSTRATORBEGINY" val="307"/>
  <p:tag name="SCIENTIFICILLUSTRATORENDX" val="123"/>
  <p:tag name="SCIENTIFICILLUSTRATORENDY" val="307"/>
  <p:tag name="SCIENTIFICILLUSTRATORSTARTCLEARANCE" val="0"/>
  <p:tag name="SCIENTIFICILLUSTRATORENDCLEARANCE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7"/>
  <p:tag name="SCIENTIFICILLUSTRATORBEGINY" val="317"/>
  <p:tag name="SCIENTIFICILLUSTRATORENDX" val="118"/>
  <p:tag name="SCIENTIFICILLUSTRATORENDY" val="317"/>
  <p:tag name="SCIENTIFICILLUSTRATORSTARTCLEARANCE" val="0"/>
  <p:tag name="SCIENTIFICILLUSTRATORENDCLEARANCE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7"/>
  <p:tag name="SCIENTIFICILLUSTRATORBEGINY" val="327"/>
  <p:tag name="SCIENTIFICILLUSTRATORENDX" val="125"/>
  <p:tag name="SCIENTIFICILLUSTRATORENDY" val="327"/>
  <p:tag name="SCIENTIFICILLUSTRATORSTARTCLEARANCE" val="0"/>
  <p:tag name="SCIENTIFICILLUSTRATORENDCLEARANCE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81"/>
  <p:tag name="SCIENTIFICILLUSTRATORBEGINY" val="211"/>
  <p:tag name="SCIENTIFICILLUSTRATORENDX" val="281"/>
  <p:tag name="SCIENTIFICILLUSTRATORENDY" val="219"/>
  <p:tag name="SCIENTIFICILLUSTRATORSTARTCLEARANCE" val="0"/>
  <p:tag name="SCIENTIFICILLUSTRATORENDCLEARANC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81"/>
  <p:tag name="SCIENTIFICILLUSTRATORBEGINY" val="254"/>
  <p:tag name="SCIENTIFICILLUSTRATORENDX" val="281"/>
  <p:tag name="SCIENTIFICILLUSTRATORENDY" val="262"/>
  <p:tag name="SCIENTIFICILLUSTRATORSTARTCLEARANCE" val="0"/>
  <p:tag name="SCIENTIFICILLUSTRATORENDCLEARANC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157"/>
  <p:tag name="SCIENTIFICILLUSTRATORBEGINY" val="156"/>
  <p:tag name="SCIENTIFICILLUSTRATORENDX" val="192.478115600311"/>
  <p:tag name="SCIENTIFICILLUSTRATORENDY" val="175.10360070786"/>
  <p:tag name="SCIENTIFICILLUSTRATORSTARTCLEARANCE" val="0"/>
  <p:tag name="SCIENTIFICILLUSTRATORENDCLEARANCE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136"/>
  <p:tag name="SCIENTIFICILLUSTRATORBEGINY" val="319"/>
  <p:tag name="SCIENTIFICILLUSTRATORENDX" val="192.077677297236"/>
  <p:tag name="SCIENTIFICILLUSTRATORENDY" val="307.784464540553"/>
  <p:tag name="SCIENTIFICILLUSTRATORSTARTCLEARANCE" val="0"/>
  <p:tag name="SCIENTIFICILLUSTRATORENDCLEARANC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81"/>
  <p:tag name="SCIENTIFICILLUSTRATORBEGINY" val="297"/>
  <p:tag name="SCIENTIFICILLUSTRATORENDX" val="352"/>
  <p:tag name="SCIENTIFICILLUSTRATORENDY" val="297"/>
  <p:tag name="SCIENTIFICILLUSTRATORSTARTCLEARANCE" val="0"/>
  <p:tag name="SCIENTIFICILLUSTRATORENDCLEARANCE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52"/>
  <p:tag name="SCIENTIFICILLUSTRATORBEGINY" val="297"/>
  <p:tag name="SCIENTIFICILLUSTRATORENDX" val="352"/>
  <p:tag name="SCIENTIFICILLUSTRATORENDY" val="335"/>
  <p:tag name="SCIENTIFICILLUSTRATORSTARTCLEARANCE" val="0"/>
  <p:tag name="SCIENTIFICILLUSTRATORENDCLEARANCE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52"/>
  <p:tag name="SCIENTIFICILLUSTRATORBEGINY" val="335"/>
  <p:tag name="SCIENTIFICILLUSTRATORENDX" val="341"/>
  <p:tag name="SCIENTIFICILLUSTRATORENDY" val="335"/>
  <p:tag name="SCIENTIFICILLUSTRATORSTARTCLEARANCE" val="0"/>
  <p:tag name="SCIENTIFICILLUSTRATORENDCLEARANCE" val="1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18"/>
  <p:tag name="SCIENTIFICILLUSTRATORBEGINY" val="220"/>
  <p:tag name="SCIENTIFICILLUSTRATORENDX" val="518"/>
  <p:tag name="SCIENTIFICILLUSTRATORENDY" val="235"/>
  <p:tag name="SCIENTIFICILLUSTRATORSTARTCLEARANCE" val="0"/>
  <p:tag name="SCIENTIFICILLUSTRATORENDCLEARANC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18"/>
  <p:tag name="SCIENTIFICILLUSTRATORBEGINY" val="282"/>
  <p:tag name="SCIENTIFICILLUSTRATORENDX" val="518"/>
  <p:tag name="SCIENTIFICILLUSTRATORENDY" val="297"/>
  <p:tag name="SCIENTIFICILLUSTRATORSTARTCLEARANCE" val="0"/>
  <p:tag name="SCIENTIFICILLUSTRATORENDCLEARANC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39"/>
  <p:tag name="SCIENTIFICILLUSTRATORBEGINY" val="335"/>
  <p:tag name="SCIENTIFICILLUSTRATORENDX" val="385"/>
  <p:tag name="SCIENTIFICILLUSTRATORENDY" val="335"/>
  <p:tag name="SCIENTIFICILLUSTRATORSTARTCLEARANCE" val="0"/>
  <p:tag name="SCIENTIFICILLUSTRATORENDCLEARANCE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85"/>
  <p:tag name="SCIENTIFICILLUSTRATORBEGINY" val="335"/>
  <p:tag name="SCIENTIFICILLUSTRATORENDX" val="385"/>
  <p:tag name="SCIENTIFICILLUSTRATORENDY" val="197"/>
  <p:tag name="SCIENTIFICILLUSTRATORSTARTCLEARANCE" val="0"/>
  <p:tag name="SCIENTIFICILLUSTRATORENDCLEARANCE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385"/>
  <p:tag name="SCIENTIFICILLUSTRATORBEGINY" val="197"/>
  <p:tag name="SCIENTIFICILLUSTRATORENDX" val="402"/>
  <p:tag name="SCIENTIFICILLUSTRATORENDY" val="197"/>
  <p:tag name="SCIENTIFICILLUSTRATORSTARTCLEARANCE" val="0"/>
  <p:tag name="SCIENTIFICILLUSTRATORENDCLEARANC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631"/>
  <p:tag name="SCIENTIFICILLUSTRATORBEGINY" val="243"/>
  <p:tag name="SCIENTIFICILLUSTRATORENDX" val="657"/>
  <p:tag name="SCIENTIFICILLUSTRATORENDY" val="243"/>
  <p:tag name="SCIENTIFICILLUSTRATORSTARTCLEARANCE" val="0"/>
  <p:tag name="SCIENTIFICILLUSTRATORENDCLEARANC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802"/>
  <p:tag name="SCIENTIFICILLUSTRATORBEGINY" val="237"/>
  <p:tag name="SCIENTIFICILLUSTRATORENDX" val="902"/>
  <p:tag name="SCIENTIFICILLUSTRATORENDY" val="237"/>
  <p:tag name="SCIENTIFICILLUSTRATORSTARTCLEARANCE" val="0"/>
  <p:tag name="SCIENTIFICILLUSTRATORENDCLEARANCE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802"/>
  <p:tag name="SCIENTIFICILLUSTRATORBEGINY" val="253"/>
  <p:tag name="SCIENTIFICILLUSTRATORENDX" val="891"/>
  <p:tag name="SCIENTIFICILLUSTRATORENDY" val="253"/>
  <p:tag name="SCIENTIFICILLUSTRATORSTARTCLEARANCE" val="0"/>
  <p:tag name="SCIENTIFICILLUSTRATORENDCLEARANCE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802"/>
  <p:tag name="SCIENTIFICILLUSTRATORBEGINY" val="269"/>
  <p:tag name="SCIENTIFICILLUSTRATORENDX" val="898"/>
  <p:tag name="SCIENTIFICILLUSTRATORENDY" val="269"/>
  <p:tag name="SCIENTIFICILLUSTRATORSTARTCLEARANCE" val="0"/>
  <p:tag name="SCIENTIFICILLUSTRATORENDCLEARANCE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807"/>
  <p:tag name="SCIENTIFICILLUSTRATORBEGINY" val="342"/>
  <p:tag name="SCIENTIFICILLUSTRATORENDX" val="897"/>
  <p:tag name="SCIENTIFICILLUSTRATORENDY" val="339"/>
  <p:tag name="SCIENTIFICILLUSTRATORSTARTCLEARANCE" val="0"/>
  <p:tag name="SCIENTIFICILLUSTRATORENDCLEARANCE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818"/>
  <p:tag name="SCIENTIFICILLUSTRATORBEGINY" val="348"/>
  <p:tag name="SCIENTIFICILLUSTRATORENDX" val="888"/>
  <p:tag name="SCIENTIFICILLUSTRATORENDY" val="346"/>
  <p:tag name="SCIENTIFICILLUSTRATORSTARTCLEARANCE" val="0"/>
  <p:tag name="SCIENTIFICILLUSTRATORENDCLEARANCE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56"/>
  <p:tag name="SCIENTIFICILLUSTRATORBEGINY" val="243"/>
  <p:tag name="SCIENTIFICILLUSTRATORENDX" val="777"/>
  <p:tag name="SCIENTIFICILLUSTRATORENDY" val="243"/>
  <p:tag name="SCIENTIFICILLUSTRATORSTARTCLEARANCE" val="0"/>
  <p:tag name="SCIENTIFICILLUSTRATORENDCLEARANCE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08"/>
  <p:tag name="SCIENTIFICILLUSTRATORBEGINY" val="282"/>
  <p:tag name="SCIENTIFICILLUSTRATORENDX" val="708"/>
  <p:tag name="SCIENTIFICILLUSTRATORENDY" val="420"/>
  <p:tag name="SCIENTIFICILLUSTRATORSTARTCLEARANCE" val="0"/>
  <p:tag name="SCIENTIFICILLUSTRATORENDCLEARANCE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08"/>
  <p:tag name="SCIENTIFICILLUSTRATORBEGINY" val="420"/>
  <p:tag name="SCIENTIFICILLUSTRATORENDX" val="475"/>
  <p:tag name="SCIENTIFICILLUSTRATORENDY" val="420"/>
  <p:tag name="SCIENTIFICILLUSTRATORSTARTCLEARANCE" val="0"/>
  <p:tag name="SCIENTIFICILLUSTRATORENDCLEARANCE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475"/>
  <p:tag name="SCIENTIFICILLUSTRATORBEGINY" val="420"/>
  <p:tag name="SCIENTIFICILLUSTRATORENDX" val="475"/>
  <p:tag name="SCIENTIFICILLUSTRATORENDY" val="427.5"/>
  <p:tag name="SCIENTIFICILLUSTRATORSTARTCLEARANCE" val="0"/>
  <p:tag name="SCIENTIFICILLUSTRATORENDCLEARANCE" val="2.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536"/>
  <p:tag name="SCIENTIFICILLUSTRATORBEGINY" val="457"/>
  <p:tag name="SCIENTIFICILLUSTRATORENDX" val="565"/>
  <p:tag name="SCIENTIFICILLUSTRATORENDY" val="457"/>
  <p:tag name="SCIENTIFICILLUSTRATORSTARTCLEARANCE" val="0"/>
  <p:tag name="SCIENTIFICILLUSTRATORENDCLEARANCE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664"/>
  <p:tag name="SCIENTIFICILLUSTRATORBEGINY" val="457"/>
  <p:tag name="SCIENTIFICILLUSTRATORENDX" val="693"/>
  <p:tag name="SCIENTIFICILLUSTRATORENDY" val="457"/>
  <p:tag name="SCIENTIFICILLUSTRATORSTARTCLEARANCE" val="0"/>
  <p:tag name="SCIENTIFICILLUSTRATORENDCLEARANCE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40"/>
  <p:tag name="SCIENTIFICILLUSTRATORBEGINY" val="484"/>
  <p:tag name="SCIENTIFICILLUSTRATORENDX" val="740"/>
  <p:tag name="SCIENTIFICILLUSTRATORENDY" val="512"/>
  <p:tag name="SCIENTIFICILLUSTRATORSTARTCLEARANCE" val="0"/>
  <p:tag name="SCIENTIFICILLUSTRATORENDCLEARANCE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740"/>
  <p:tag name="SCIENTIFICILLUSTRATORBEGINY" val="512"/>
  <p:tag name="SCIENTIFICILLUSTRATORENDX" val="281"/>
  <p:tag name="SCIENTIFICILLUSTRATORENDY" val="512"/>
  <p:tag name="SCIENTIFICILLUSTRATORSTARTCLEARANCE" val="0"/>
  <p:tag name="SCIENTIFICILLUSTRATORENDCLEARANCE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IENTIFICILLUSTRATORBEGINX" val="281"/>
  <p:tag name="SCIENTIFICILLUSTRATORBEGINY" val="512"/>
  <p:tag name="SCIENTIFICILLUSTRATORENDX" val="281"/>
  <p:tag name="SCIENTIFICILLUSTRATORENDY" val="367"/>
  <p:tag name="SCIENTIFICILLUSTRATORSTARTCLEARANCE" val="0"/>
  <p:tag name="SCIENTIFICILLUSTRATORENDCLEARANCE" val="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Office PowerPoint</Application>
  <PresentationFormat>宽屏</PresentationFormat>
  <Paragraphs>39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Aptos</vt:lpstr>
      <vt:lpstr>Arial</vt:lpstr>
      <vt:lpstr>Segoe Print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 Yuan</dc:creator>
  <cp:lastModifiedBy>Feng Yuan</cp:lastModifiedBy>
  <cp:revision>1</cp:revision>
  <dcterms:created xsi:type="dcterms:W3CDTF">2026-09-04T16:57:34Z</dcterms:created>
  <dcterms:modified xsi:type="dcterms:W3CDTF">2026-09-04T16:57:34Z</dcterms:modified>
</cp:coreProperties>
</file>